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1104" r:id="rId2"/>
    <p:sldId id="1881" r:id="rId3"/>
    <p:sldId id="1801" r:id="rId4"/>
    <p:sldId id="1886" r:id="rId5"/>
    <p:sldId id="1882" r:id="rId6"/>
    <p:sldId id="852" r:id="rId7"/>
    <p:sldId id="696" r:id="rId8"/>
    <p:sldId id="853" r:id="rId9"/>
    <p:sldId id="863" r:id="rId10"/>
    <p:sldId id="864" r:id="rId11"/>
    <p:sldId id="1883" r:id="rId12"/>
    <p:sldId id="1878" r:id="rId13"/>
    <p:sldId id="1885" r:id="rId14"/>
    <p:sldId id="860" r:id="rId15"/>
    <p:sldId id="859" r:id="rId16"/>
    <p:sldId id="861" r:id="rId17"/>
    <p:sldId id="1888" r:id="rId18"/>
    <p:sldId id="700" r:id="rId19"/>
    <p:sldId id="712" r:id="rId20"/>
    <p:sldId id="1889" r:id="rId21"/>
    <p:sldId id="1890" r:id="rId22"/>
    <p:sldId id="868" r:id="rId23"/>
    <p:sldId id="1892" r:id="rId24"/>
    <p:sldId id="1893" r:id="rId25"/>
    <p:sldId id="871" r:id="rId26"/>
    <p:sldId id="872" r:id="rId27"/>
    <p:sldId id="1884" r:id="rId28"/>
    <p:sldId id="1887" r:id="rId29"/>
    <p:sldId id="1894" r:id="rId30"/>
  </p:sldIdLst>
  <p:sldSz cx="12192000" cy="6858000"/>
  <p:notesSz cx="6797675" cy="987266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BURLOT-FERRE Nadine" initials="BN" lastIdx="22" clrIdx="0"/>
  <p:cmAuthor id="4" name="DEVERS Elodie" initials="DE" lastIdx="1" clrIdx="1">
    <p:extLst>
      <p:ext uri="{19B8F6BF-5375-455C-9EA6-DF929625EA0E}">
        <p15:presenceInfo xmlns:p15="http://schemas.microsoft.com/office/powerpoint/2012/main" userId="S::elodie.devers@ifpen.fr::c8c63fcd-a995-4359-b8b7-ad93499f6ea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AB2"/>
    <a:srgbClr val="FF00FF"/>
    <a:srgbClr val="CCCCFF"/>
    <a:srgbClr val="E0ECF6"/>
    <a:srgbClr val="00B050"/>
    <a:srgbClr val="66FF66"/>
    <a:srgbClr val="FF66FF"/>
    <a:srgbClr val="80197F"/>
    <a:srgbClr val="66FF3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6" autoAdjust="0"/>
    <p:restoredTop sz="94926" autoAdjust="0"/>
  </p:normalViewPr>
  <p:slideViewPr>
    <p:cSldViewPr snapToGrid="0">
      <p:cViewPr varScale="1">
        <p:scale>
          <a:sx n="114" d="100"/>
          <a:sy n="114" d="100"/>
        </p:scale>
        <p:origin x="576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657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202"/>
    </p:cViewPr>
  </p:sorterViewPr>
  <p:notesViewPr>
    <p:cSldViewPr snapToGrid="0">
      <p:cViewPr varScale="1">
        <p:scale>
          <a:sx n="68" d="100"/>
          <a:sy n="68" d="100"/>
        </p:scale>
        <p:origin x="426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2448F7-0272-4D0F-BA66-D65B303392B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377319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50443" y="9377319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32AA12-A6FE-4C91-A074-2765A7ABF2A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2507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A16448-2BDC-44AE-BD3D-055F68DCCA9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5075"/>
            <a:ext cx="5921375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9768" y="4751220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7319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377319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EB2A8F-DB5F-40B4-8722-A16259517A6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536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 sans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922" y="4926910"/>
            <a:ext cx="1274156" cy="546177"/>
          </a:xfrm>
          <a:prstGeom prst="rect">
            <a:avLst/>
          </a:prstGeom>
        </p:spPr>
      </p:pic>
      <p:sp>
        <p:nvSpPr>
          <p:cNvPr id="5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2918721"/>
            <a:ext cx="12192000" cy="483967"/>
          </a:xfrm>
        </p:spPr>
        <p:txBody>
          <a:bodyPr/>
          <a:lstStyle>
            <a:lvl1pPr marL="0" indent="0" algn="ctr">
              <a:buNone/>
              <a:defRPr b="0" cap="all" baseline="0">
                <a:solidFill>
                  <a:srgbClr val="7030A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/ TITLE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5" hasCustomPrompt="1"/>
          </p:nvPr>
        </p:nvSpPr>
        <p:spPr>
          <a:xfrm>
            <a:off x="0" y="3612712"/>
            <a:ext cx="12192000" cy="352705"/>
          </a:xfrm>
        </p:spPr>
        <p:txBody>
          <a:bodyPr>
            <a:noAutofit/>
          </a:bodyPr>
          <a:lstStyle>
            <a:lvl1pPr marL="0" indent="0" algn="ctr">
              <a:buNone/>
              <a:defRPr sz="2400" cap="all" baseline="0">
                <a:solidFill>
                  <a:srgbClr val="006AB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SOUS-TITRE / SUB-TITLE</a:t>
            </a:r>
          </a:p>
        </p:txBody>
      </p:sp>
      <p:cxnSp>
        <p:nvCxnSpPr>
          <p:cNvPr id="12" name="Connecteur droit 11"/>
          <p:cNvCxnSpPr/>
          <p:nvPr userDrawn="1"/>
        </p:nvCxnSpPr>
        <p:spPr>
          <a:xfrm rot="5400000">
            <a:off x="6096000" y="2270448"/>
            <a:ext cx="0" cy="2404497"/>
          </a:xfrm>
          <a:prstGeom prst="line">
            <a:avLst/>
          </a:prstGeom>
          <a:ln w="12700">
            <a:solidFill>
              <a:srgbClr val="006AB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15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38200" y="0"/>
            <a:ext cx="8277225" cy="514203"/>
          </a:xfrm>
        </p:spPr>
        <p:txBody>
          <a:bodyPr>
            <a:noAutofit/>
          </a:bodyPr>
          <a:lstStyle>
            <a:lvl1pPr>
              <a:defRPr sz="2200" b="0" cap="all" baseline="0">
                <a:solidFill>
                  <a:srgbClr val="0070C0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ENTREZ LE TITRE</a:t>
            </a:r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650860" y="1"/>
            <a:ext cx="116056" cy="4159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>
            <a:lvl1pPr marL="342900" indent="-342900">
              <a:buClr>
                <a:srgbClr val="7030A0"/>
              </a:buClr>
              <a:buSzPct val="100000"/>
              <a:buFont typeface="Arial" panose="020B0604020202020204" pitchFamily="34" charset="0"/>
              <a:buChar char="•"/>
              <a:defRPr sz="2200">
                <a:solidFill>
                  <a:srgbClr val="7030A0"/>
                </a:solidFill>
                <a:latin typeface="Calibri" panose="020F0502020204030204" pitchFamily="34" charset="0"/>
              </a:defRPr>
            </a:lvl1pPr>
            <a:lvl2pPr marL="800100" indent="-342900"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0070C0"/>
                </a:solidFill>
                <a:latin typeface="Calibri" panose="020F0502020204030204" pitchFamily="34" charset="0"/>
              </a:defRPr>
            </a:lvl2pPr>
            <a:lvl3pPr marL="1200150" indent="-285750">
              <a:buClr>
                <a:schemeClr val="accent5"/>
              </a:buClr>
              <a:buFont typeface="Arial" panose="020B0604020202020204" pitchFamily="34" charset="0"/>
              <a:buChar char="•"/>
              <a:defRPr sz="1800">
                <a:solidFill>
                  <a:srgbClr val="0070C0"/>
                </a:solidFill>
                <a:latin typeface="Calibri" panose="020F0502020204030204" pitchFamily="34" charset="0"/>
              </a:defRPr>
            </a:lvl3pPr>
            <a:lvl4pPr marL="1657350" indent="-285750">
              <a:buClr>
                <a:schemeClr val="accent5"/>
              </a:buClr>
              <a:buFont typeface="Arial" panose="020B0604020202020204" pitchFamily="34" charset="0"/>
              <a:buChar char="•"/>
              <a:defRPr sz="1600">
                <a:solidFill>
                  <a:srgbClr val="0070C0"/>
                </a:solidFill>
                <a:latin typeface="Calibri" panose="020F0502020204030204" pitchFamily="34" charset="0"/>
              </a:defRPr>
            </a:lvl4pPr>
            <a:lvl5pPr marL="2057400" indent="-228600">
              <a:buFontTx/>
              <a:buBlip>
                <a:blip r:embed="rId2"/>
              </a:buBlip>
              <a:defRPr sz="1600">
                <a:solidFill>
                  <a:srgbClr val="0070C0"/>
                </a:solidFill>
                <a:latin typeface="Roboto Light" panose="02000000000000000000" pitchFamily="2" charset="0"/>
              </a:defRPr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</p:spTree>
    <p:extLst>
      <p:ext uri="{BB962C8B-B14F-4D97-AF65-F5344CB8AC3E}">
        <p14:creationId xmlns:p14="http://schemas.microsoft.com/office/powerpoint/2010/main" val="2066129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Bis Sans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922" y="6112243"/>
            <a:ext cx="1274156" cy="546177"/>
          </a:xfrm>
          <a:prstGeom prst="rect">
            <a:avLst/>
          </a:prstGeom>
        </p:spPr>
      </p:pic>
      <p:sp>
        <p:nvSpPr>
          <p:cNvPr id="5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2918721"/>
            <a:ext cx="12192000" cy="483967"/>
          </a:xfrm>
        </p:spPr>
        <p:txBody>
          <a:bodyPr/>
          <a:lstStyle>
            <a:lvl1pPr marL="0" indent="0" algn="ctr">
              <a:buNone/>
              <a:defRPr b="0" cap="all" baseline="0">
                <a:solidFill>
                  <a:srgbClr val="006AB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/ TITLE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5" hasCustomPrompt="1"/>
          </p:nvPr>
        </p:nvSpPr>
        <p:spPr>
          <a:xfrm>
            <a:off x="0" y="3612712"/>
            <a:ext cx="12192000" cy="352705"/>
          </a:xfrm>
        </p:spPr>
        <p:txBody>
          <a:bodyPr>
            <a:noAutofit/>
          </a:bodyPr>
          <a:lstStyle>
            <a:lvl1pPr marL="0" indent="0" algn="ctr">
              <a:buNone/>
              <a:defRPr sz="2400" cap="all" baseline="0">
                <a:solidFill>
                  <a:srgbClr val="006AB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SOUS-TITRE / SUB-TITLE</a:t>
            </a:r>
          </a:p>
        </p:txBody>
      </p:sp>
    </p:spTree>
    <p:extLst>
      <p:ext uri="{BB962C8B-B14F-4D97-AF65-F5344CB8AC3E}">
        <p14:creationId xmlns:p14="http://schemas.microsoft.com/office/powerpoint/2010/main" val="1270941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830426" y="6319028"/>
            <a:ext cx="32937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ZoneTexte 5"/>
          <p:cNvSpPr txBox="1"/>
          <p:nvPr/>
        </p:nvSpPr>
        <p:spPr>
          <a:xfrm>
            <a:off x="120073" y="6448529"/>
            <a:ext cx="586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08D8DBD-5801-4371-A777-4C8C663B653C}" type="slidenum">
              <a:rPr lang="fr-FR" sz="16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‹N°›</a:t>
            </a:fld>
            <a:endParaRPr lang="fr-FR" sz="16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171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2" r:id="rId1"/>
    <p:sldLayoutId id="2147484195" r:id="rId2"/>
    <p:sldLayoutId id="2147484196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09" Type="http://schemas.openxmlformats.org/officeDocument/2006/relationships/image" Target="../media/image200.png"/><Relationship Id="rId3" Type="http://schemas.openxmlformats.org/officeDocument/2006/relationships/image" Target="../media/image270.png"/><Relationship Id="rId104" Type="http://schemas.openxmlformats.org/officeDocument/2006/relationships/image" Target="../media/image150.png"/><Relationship Id="rId112" Type="http://schemas.openxmlformats.org/officeDocument/2006/relationships/image" Target="../media/image330.png"/><Relationship Id="rId103" Type="http://schemas.openxmlformats.org/officeDocument/2006/relationships/image" Target="../media/image130.png"/><Relationship Id="rId2" Type="http://schemas.openxmlformats.org/officeDocument/2006/relationships/image" Target="../media/image260.png"/><Relationship Id="rId111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102" Type="http://schemas.openxmlformats.org/officeDocument/2006/relationships/image" Target="../media/image120.png"/><Relationship Id="rId110" Type="http://schemas.openxmlformats.org/officeDocument/2006/relationships/image" Target="../media/image310.png"/><Relationship Id="rId115" Type="http://schemas.openxmlformats.org/officeDocument/2006/relationships/image" Target="../media/image340.png"/><Relationship Id="rId5" Type="http://schemas.openxmlformats.org/officeDocument/2006/relationships/image" Target="../media/image290.png"/><Relationship Id="rId106" Type="http://schemas.openxmlformats.org/officeDocument/2006/relationships/image" Target="../media/image300.png"/><Relationship Id="rId114" Type="http://schemas.openxmlformats.org/officeDocument/2006/relationships/image" Target="../media/image240.png"/><Relationship Id="rId4" Type="http://schemas.openxmlformats.org/officeDocument/2006/relationships/image" Target="../media/image280.png"/><Relationship Id="rId105" Type="http://schemas.openxmlformats.org/officeDocument/2006/relationships/image" Target="../media/image160.png"/><Relationship Id="rId113" Type="http://schemas.openxmlformats.org/officeDocument/2006/relationships/image" Target="../media/image23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04" Type="http://schemas.openxmlformats.org/officeDocument/2006/relationships/image" Target="../media/image150.png"/><Relationship Id="rId103" Type="http://schemas.openxmlformats.org/officeDocument/2006/relationships/image" Target="../media/image130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102" Type="http://schemas.openxmlformats.org/officeDocument/2006/relationships/image" Target="../media/image120.png"/><Relationship Id="rId110" Type="http://schemas.openxmlformats.org/officeDocument/2006/relationships/image" Target="../media/image210.png"/><Relationship Id="rId114" Type="http://schemas.openxmlformats.org/officeDocument/2006/relationships/image" Target="../media/image250.png"/><Relationship Id="rId105" Type="http://schemas.openxmlformats.org/officeDocument/2006/relationships/image" Target="../media/image1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455040C-C481-AF5D-BACF-563519E9F8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-105508" y="2263254"/>
            <a:ext cx="12192000" cy="832285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Machine-Learned Surrogates for Reactive Transport: Numerical and HPC Integration Challenges for Industrial CFD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FA87F03-E916-59C7-8A9C-36AA98C94076}"/>
              </a:ext>
            </a:extLst>
          </p:cNvPr>
          <p:cNvSpPr txBox="1"/>
          <p:nvPr/>
        </p:nvSpPr>
        <p:spPr>
          <a:xfrm>
            <a:off x="5158529" y="4403590"/>
            <a:ext cx="2274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Thibault Faney</a:t>
            </a:r>
          </a:p>
        </p:txBody>
      </p:sp>
    </p:spTree>
    <p:extLst>
      <p:ext uri="{BB962C8B-B14F-4D97-AF65-F5344CB8AC3E}">
        <p14:creationId xmlns:p14="http://schemas.microsoft.com/office/powerpoint/2010/main" val="855687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9C519-F530-4D7C-96F6-AC199D0C5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e 27">
            <a:extLst>
              <a:ext uri="{FF2B5EF4-FFF2-40B4-BE49-F238E27FC236}">
                <a16:creationId xmlns:a16="http://schemas.microsoft.com/office/drawing/2014/main" id="{311276BC-D925-ABD0-2D08-12B3B825BC73}"/>
              </a:ext>
            </a:extLst>
          </p:cNvPr>
          <p:cNvGrpSpPr/>
          <p:nvPr/>
        </p:nvGrpSpPr>
        <p:grpSpPr>
          <a:xfrm>
            <a:off x="8850282" y="1610120"/>
            <a:ext cx="2911080" cy="3332879"/>
            <a:chOff x="8028289" y="1651610"/>
            <a:chExt cx="2074171" cy="3332879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4AD92A5-1975-070E-44F6-FA283558FF4D}"/>
                </a:ext>
              </a:extLst>
            </p:cNvPr>
            <p:cNvSpPr/>
            <p:nvPr/>
          </p:nvSpPr>
          <p:spPr>
            <a:xfrm>
              <a:off x="8427963" y="4245825"/>
              <a:ext cx="861904" cy="738664"/>
            </a:xfrm>
            <a:prstGeom prst="rect">
              <a:avLst/>
            </a:prstGeom>
            <a:ln w="28575">
              <a:noFill/>
            </a:ln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1400" i="1" dirty="0" err="1">
                  <a:solidFill>
                    <a:srgbClr val="006AB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Refining</a:t>
              </a:r>
              <a:endParaRPr lang="fr-FR" sz="1400" i="1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1400" i="1" dirty="0" err="1">
                  <a:solidFill>
                    <a:srgbClr val="006AB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Biofuels</a:t>
              </a:r>
              <a:endParaRPr lang="fr-FR" sz="1400" i="1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1400" i="1" dirty="0">
                  <a:solidFill>
                    <a:srgbClr val="006AB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Batteries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D10E221-313A-F18F-B103-425F8C7023D0}"/>
                </a:ext>
              </a:extLst>
            </p:cNvPr>
            <p:cNvSpPr/>
            <p:nvPr/>
          </p:nvSpPr>
          <p:spPr>
            <a:xfrm>
              <a:off x="8028289" y="1651610"/>
              <a:ext cx="2074171" cy="369332"/>
            </a:xfrm>
            <a:prstGeom prst="rect">
              <a:avLst/>
            </a:prstGeom>
            <a:ln w="28575">
              <a:noFill/>
            </a:ln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006AB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Chemical </a:t>
              </a:r>
              <a:r>
                <a:rPr lang="fr-FR" b="1" dirty="0" err="1">
                  <a:solidFill>
                    <a:srgbClr val="006AB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processes</a:t>
              </a:r>
              <a:endParaRPr lang="fr-FR" b="1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Titre 7">
            <a:extLst>
              <a:ext uri="{FF2B5EF4-FFF2-40B4-BE49-F238E27FC236}">
                <a16:creationId xmlns:a16="http://schemas.microsoft.com/office/drawing/2014/main" id="{6AF9224F-F438-EC7D-AC33-20F0334364EF}"/>
              </a:ext>
            </a:extLst>
          </p:cNvPr>
          <p:cNvSpPr txBox="1">
            <a:spLocks/>
          </p:cNvSpPr>
          <p:nvPr/>
        </p:nvSpPr>
        <p:spPr>
          <a:xfrm>
            <a:off x="771088" y="-17075"/>
            <a:ext cx="10515600" cy="4431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0" kern="1200" cap="all" baseline="0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fr-FR" dirty="0" err="1"/>
              <a:t>Reactive</a:t>
            </a:r>
            <a:r>
              <a:rPr lang="fr-FR" dirty="0"/>
              <a:t> Transport Simulation at IFPEN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654445-CF88-8533-D331-7FEC72322F53}"/>
              </a:ext>
            </a:extLst>
          </p:cNvPr>
          <p:cNvSpPr/>
          <p:nvPr/>
        </p:nvSpPr>
        <p:spPr>
          <a:xfrm>
            <a:off x="5444975" y="1633921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Combustion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D81C5A-A7B9-3E65-550C-12A375EE0CBD}"/>
              </a:ext>
            </a:extLst>
          </p:cNvPr>
          <p:cNvSpPr/>
          <p:nvPr/>
        </p:nvSpPr>
        <p:spPr>
          <a:xfrm>
            <a:off x="4981089" y="4198732"/>
            <a:ext cx="276194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1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  <a:r>
              <a:rPr lang="fr-FR" sz="1400" i="1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combustion engines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1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fr-FR" sz="1400" i="1" baseline="-25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fr-FR" sz="1400" i="1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combustion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1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</a:t>
            </a:r>
            <a:r>
              <a:rPr lang="fr-FR" sz="1400" i="1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turbines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C3C4618B-37FA-6B33-7510-93F840715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9475" y="2509203"/>
            <a:ext cx="2942188" cy="1101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Groupe 24">
            <a:extLst>
              <a:ext uri="{FF2B5EF4-FFF2-40B4-BE49-F238E27FC236}">
                <a16:creationId xmlns:a16="http://schemas.microsoft.com/office/drawing/2014/main" id="{86B8E21E-B3D8-854A-4B6D-8C669FC809B9}"/>
              </a:ext>
            </a:extLst>
          </p:cNvPr>
          <p:cNvGrpSpPr/>
          <p:nvPr/>
        </p:nvGrpSpPr>
        <p:grpSpPr>
          <a:xfrm>
            <a:off x="915616" y="1633921"/>
            <a:ext cx="2608876" cy="3495117"/>
            <a:chOff x="1541756" y="1224467"/>
            <a:chExt cx="2391468" cy="349511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F48CBA0-BEA0-A2F4-7090-70BEF2184443}"/>
                </a:ext>
              </a:extLst>
            </p:cNvPr>
            <p:cNvSpPr/>
            <p:nvPr/>
          </p:nvSpPr>
          <p:spPr>
            <a:xfrm>
              <a:off x="1541756" y="1224467"/>
              <a:ext cx="2377574" cy="369332"/>
            </a:xfrm>
            <a:prstGeom prst="rect">
              <a:avLst/>
            </a:prstGeom>
            <a:ln w="28575">
              <a:noFill/>
            </a:ln>
          </p:spPr>
          <p:txBody>
            <a:bodyPr wrap="none">
              <a:spAutoFit/>
            </a:bodyPr>
            <a:lstStyle/>
            <a:p>
              <a:r>
                <a:rPr lang="fr-FR" b="1" dirty="0">
                  <a:solidFill>
                    <a:srgbClr val="006AB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Flow in </a:t>
              </a:r>
              <a:r>
                <a:rPr lang="fr-FR" b="1" dirty="0" err="1">
                  <a:solidFill>
                    <a:srgbClr val="006AB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porous</a:t>
              </a:r>
              <a:r>
                <a:rPr lang="fr-FR" b="1" dirty="0">
                  <a:solidFill>
                    <a:srgbClr val="006AB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media</a:t>
              </a:r>
              <a:endParaRPr lang="en-US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3C28BE-0F12-5550-907A-9DD7668EB596}"/>
                </a:ext>
              </a:extLst>
            </p:cNvPr>
            <p:cNvSpPr/>
            <p:nvPr/>
          </p:nvSpPr>
          <p:spPr>
            <a:xfrm>
              <a:off x="1621535" y="3765477"/>
              <a:ext cx="2311689" cy="954107"/>
            </a:xfrm>
            <a:prstGeom prst="rect">
              <a:avLst/>
            </a:prstGeom>
            <a:ln w="28575">
              <a:noFill/>
            </a:ln>
          </p:spPr>
          <p:txBody>
            <a:bodyPr wrap="non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1400" i="1" dirty="0" err="1">
                  <a:solidFill>
                    <a:srgbClr val="006AB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reservoir</a:t>
              </a:r>
              <a:r>
                <a:rPr lang="fr-FR" sz="1400" i="1" dirty="0">
                  <a:solidFill>
                    <a:srgbClr val="006AB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/ basin modeling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1400" i="1" dirty="0">
                  <a:solidFill>
                    <a:srgbClr val="006AB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EOR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1400" i="1" dirty="0">
                  <a:solidFill>
                    <a:srgbClr val="006AB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</a:t>
              </a:r>
              <a:r>
                <a:rPr lang="fr-FR" sz="1400" i="1" baseline="-25000" dirty="0">
                  <a:solidFill>
                    <a:srgbClr val="006AB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</a:t>
              </a:r>
              <a:r>
                <a:rPr lang="fr-FR" sz="1400" i="1" dirty="0" err="1">
                  <a:solidFill>
                    <a:srgbClr val="006AB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sequestration</a:t>
              </a:r>
              <a:endParaRPr lang="en-US" sz="14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1400" i="1" dirty="0">
                  <a:solidFill>
                    <a:srgbClr val="006AB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lang="fr-FR" sz="1400" i="1" baseline="-25000" dirty="0">
                  <a:solidFill>
                    <a:srgbClr val="006AB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fr-FR" sz="1400" i="1" dirty="0">
                  <a:solidFill>
                    <a:srgbClr val="006AB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fr-FR" sz="1400" i="1" dirty="0" err="1">
                  <a:solidFill>
                    <a:srgbClr val="006AB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storage</a:t>
              </a:r>
              <a:endParaRPr lang="fr-FR" sz="1400" i="1" baseline="-25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" name="Picture 3">
              <a:extLst>
                <a:ext uri="{FF2B5EF4-FFF2-40B4-BE49-F238E27FC236}">
                  <a16:creationId xmlns:a16="http://schemas.microsoft.com/office/drawing/2014/main" id="{7BCD499D-1DF7-04C9-0B64-4C3EF3C953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1535" y="1593799"/>
              <a:ext cx="2218017" cy="2066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</p:grpSp>
      <p:pic>
        <p:nvPicPr>
          <p:cNvPr id="18" name="Image 17">
            <a:extLst>
              <a:ext uri="{FF2B5EF4-FFF2-40B4-BE49-F238E27FC236}">
                <a16:creationId xmlns:a16="http://schemas.microsoft.com/office/drawing/2014/main" id="{B3646DB8-A53E-1406-C325-96A4C8E5D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1221" y="2402436"/>
            <a:ext cx="1209675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63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3A7B31AC-0855-F8F6-F341-B5EE69E788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1844" y="1113590"/>
                <a:ext cx="11381860" cy="173866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defPPr>
                  <a:defRPr lang="fr-FR"/>
                </a:defPPr>
                <a:lvl1pPr marL="228600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b="1">
                    <a:solidFill>
                      <a:srgbClr val="7030A0"/>
                    </a:solidFill>
                    <a:latin typeface="Calibri" panose="020F0502020204030204" pitchFamily="34" charset="0"/>
                  </a:defRPr>
                </a:lvl1pPr>
                <a:lvl2pPr marL="685800" lvl="1" indent="-228600">
                  <a:lnSpc>
                    <a:spcPct val="90000"/>
                  </a:lnSpc>
                  <a:spcBef>
                    <a:spcPts val="500"/>
                  </a:spcBef>
                  <a:buClr>
                    <a:schemeClr val="accent5"/>
                  </a:buClr>
                  <a:buFont typeface="Arial" panose="020B0604020202020204" pitchFamily="34" charset="0"/>
                  <a:buChar char="•"/>
                  <a:defRPr sz="2000">
                    <a:solidFill>
                      <a:srgbClr val="0070C0"/>
                    </a:solidFill>
                    <a:latin typeface="Calibri" panose="020F0502020204030204" pitchFamily="34" charset="0"/>
                  </a:defRPr>
                </a:lvl2pPr>
                <a:lvl3pPr marL="1143000" lvl="2" indent="-228600">
                  <a:lnSpc>
                    <a:spcPct val="90000"/>
                  </a:lnSpc>
                  <a:spcBef>
                    <a:spcPts val="500"/>
                  </a:spcBef>
                  <a:buClr>
                    <a:schemeClr val="accent5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70C0"/>
                    </a:solidFill>
                    <a:latin typeface="Calibri" panose="020F0502020204030204" pitchFamily="34" charset="0"/>
                  </a:defRPr>
                </a:lvl3pPr>
                <a:lvl4pPr marL="1600200" lvl="3" indent="-228600">
                  <a:lnSpc>
                    <a:spcPct val="90000"/>
                  </a:lnSpc>
                  <a:spcBef>
                    <a:spcPts val="500"/>
                  </a:spcBef>
                  <a:buClr>
                    <a:schemeClr val="accent5"/>
                  </a:buClr>
                  <a:buFont typeface="Arial" panose="020B0604020202020204" pitchFamily="34" charset="0"/>
                  <a:buChar char="•"/>
                  <a:defRPr sz="1600">
                    <a:solidFill>
                      <a:srgbClr val="0070C0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Tx/>
                  <a:buBlip>
                    <a:blip r:embed="rId2"/>
                  </a:buBlip>
                  <a:defRPr sz="1600">
                    <a:solidFill>
                      <a:srgbClr val="0070C0"/>
                    </a:solidFill>
                    <a:latin typeface="Roboto Light" panose="02000000000000000000" pitchFamily="2" charset="0"/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fr-FR" dirty="0"/>
                  <a:t>Reactive Transport PDE</a:t>
                </a:r>
              </a:p>
              <a:p>
                <a:endParaRPr lang="fr-FR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𝒯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𝒞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3A7B31AC-0855-F8F6-F341-B5EE69E78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44" y="1113590"/>
                <a:ext cx="11381860" cy="1738668"/>
              </a:xfrm>
              <a:prstGeom prst="rect">
                <a:avLst/>
              </a:prstGeom>
              <a:blipFill>
                <a:blip r:embed="rId3"/>
                <a:stretch>
                  <a:fillRect l="-750" t="-491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re 1">
            <a:extLst>
              <a:ext uri="{FF2B5EF4-FFF2-40B4-BE49-F238E27FC236}">
                <a16:creationId xmlns:a16="http://schemas.microsoft.com/office/drawing/2014/main" id="{D6AEA5D2-3734-1A07-F70F-EED7D7648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32" y="0"/>
            <a:ext cx="8277225" cy="514203"/>
          </a:xfrm>
        </p:spPr>
        <p:txBody>
          <a:bodyPr/>
          <a:lstStyle/>
          <a:p>
            <a:r>
              <a:rPr lang="fr-FR" dirty="0"/>
              <a:t>Issue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traditional</a:t>
            </a:r>
            <a:r>
              <a:rPr lang="fr-FR" dirty="0"/>
              <a:t> </a:t>
            </a:r>
            <a:r>
              <a:rPr lang="fr-FR" dirty="0" err="1"/>
              <a:t>solvers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ce réservé du contenu 2">
                <a:extLst>
                  <a:ext uri="{FF2B5EF4-FFF2-40B4-BE49-F238E27FC236}">
                    <a16:creationId xmlns:a16="http://schemas.microsoft.com/office/drawing/2014/main" id="{E2C1C570-9BDD-EBF4-B7BC-966713C1FE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1844" y="2960566"/>
                <a:ext cx="11381860" cy="307111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defPPr>
                  <a:defRPr lang="fr-FR"/>
                </a:defPPr>
                <a:lvl1pPr marL="228600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b="1">
                    <a:solidFill>
                      <a:srgbClr val="7030A0"/>
                    </a:solidFill>
                    <a:latin typeface="Calibri" panose="020F0502020204030204" pitchFamily="34" charset="0"/>
                  </a:defRPr>
                </a:lvl1pPr>
                <a:lvl2pPr marL="685800" lvl="1" indent="-228600">
                  <a:lnSpc>
                    <a:spcPct val="90000"/>
                  </a:lnSpc>
                  <a:spcBef>
                    <a:spcPts val="500"/>
                  </a:spcBef>
                  <a:buClr>
                    <a:schemeClr val="accent5"/>
                  </a:buClr>
                  <a:buFont typeface="Arial" panose="020B0604020202020204" pitchFamily="34" charset="0"/>
                  <a:buChar char="•"/>
                  <a:defRPr sz="2000">
                    <a:solidFill>
                      <a:srgbClr val="0070C0"/>
                    </a:solidFill>
                    <a:latin typeface="Calibri" panose="020F0502020204030204" pitchFamily="34" charset="0"/>
                  </a:defRPr>
                </a:lvl2pPr>
                <a:lvl3pPr marL="1143000" lvl="2" indent="-228600">
                  <a:lnSpc>
                    <a:spcPct val="90000"/>
                  </a:lnSpc>
                  <a:spcBef>
                    <a:spcPts val="500"/>
                  </a:spcBef>
                  <a:buClr>
                    <a:schemeClr val="accent5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70C0"/>
                    </a:solidFill>
                    <a:latin typeface="Calibri" panose="020F0502020204030204" pitchFamily="34" charset="0"/>
                  </a:defRPr>
                </a:lvl3pPr>
                <a:lvl4pPr marL="1600200" lvl="3" indent="-228600">
                  <a:lnSpc>
                    <a:spcPct val="90000"/>
                  </a:lnSpc>
                  <a:spcBef>
                    <a:spcPts val="500"/>
                  </a:spcBef>
                  <a:buClr>
                    <a:schemeClr val="accent5"/>
                  </a:buClr>
                  <a:buFont typeface="Arial" panose="020B0604020202020204" pitchFamily="34" charset="0"/>
                  <a:buChar char="•"/>
                  <a:defRPr sz="1600">
                    <a:solidFill>
                      <a:srgbClr val="0070C0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Tx/>
                  <a:buBlip>
                    <a:blip r:embed="rId2"/>
                  </a:buBlip>
                  <a:defRPr sz="1600">
                    <a:solidFill>
                      <a:srgbClr val="0070C0"/>
                    </a:solidFill>
                    <a:latin typeface="Roboto Light" panose="02000000000000000000" pitchFamily="2" charset="0"/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fr-FR" dirty="0"/>
                  <a:t>Monod system</a:t>
                </a:r>
              </a:p>
              <a:p>
                <a:endParaRPr lang="fr-FR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𝑣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𝐷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𝑥𝑥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fr-FR" dirty="0"/>
              </a:p>
              <a:p>
                <a:pPr marL="457200" lvl="1" indent="0">
                  <a:buNone/>
                </a:pPr>
                <a:endParaRPr lang="fr-FR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𝑣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𝐷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𝑥𝑥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𝑌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" name="Espace réservé du contenu 2">
                <a:extLst>
                  <a:ext uri="{FF2B5EF4-FFF2-40B4-BE49-F238E27FC236}">
                    <a16:creationId xmlns:a16="http://schemas.microsoft.com/office/drawing/2014/main" id="{E2C1C570-9BDD-EBF4-B7BC-966713C1F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44" y="2960566"/>
                <a:ext cx="11381860" cy="3071118"/>
              </a:xfrm>
              <a:prstGeom prst="rect">
                <a:avLst/>
              </a:prstGeom>
              <a:blipFill>
                <a:blip r:embed="rId4"/>
                <a:stretch>
                  <a:fillRect l="-750" t="-278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 8">
            <a:extLst>
              <a:ext uri="{FF2B5EF4-FFF2-40B4-BE49-F238E27FC236}">
                <a16:creationId xmlns:a16="http://schemas.microsoft.com/office/drawing/2014/main" id="{81E07834-1083-BE8B-4E01-D50EBC0C68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2956" y="1004534"/>
            <a:ext cx="4367200" cy="538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595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7F92D-6277-7405-6CE2-D13C7D7BC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FD965004-4DCE-529C-AAB6-79E442E6DF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1844" y="1113589"/>
                <a:ext cx="11381860" cy="550432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defPPr>
                  <a:defRPr lang="fr-FR"/>
                </a:defPPr>
                <a:lvl1pPr marL="228600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b="1">
                    <a:solidFill>
                      <a:srgbClr val="7030A0"/>
                    </a:solidFill>
                    <a:latin typeface="Calibri" panose="020F0502020204030204" pitchFamily="34" charset="0"/>
                  </a:defRPr>
                </a:lvl1pPr>
                <a:lvl2pPr marL="685800" lvl="1" indent="-228600">
                  <a:lnSpc>
                    <a:spcPct val="90000"/>
                  </a:lnSpc>
                  <a:spcBef>
                    <a:spcPts val="500"/>
                  </a:spcBef>
                  <a:buClr>
                    <a:schemeClr val="accent5"/>
                  </a:buClr>
                  <a:buFont typeface="Arial" panose="020B0604020202020204" pitchFamily="34" charset="0"/>
                  <a:buChar char="•"/>
                  <a:defRPr sz="2000">
                    <a:solidFill>
                      <a:srgbClr val="0070C0"/>
                    </a:solidFill>
                    <a:latin typeface="Calibri" panose="020F0502020204030204" pitchFamily="34" charset="0"/>
                  </a:defRPr>
                </a:lvl2pPr>
                <a:lvl3pPr marL="1143000" lvl="2" indent="-228600">
                  <a:lnSpc>
                    <a:spcPct val="90000"/>
                  </a:lnSpc>
                  <a:spcBef>
                    <a:spcPts val="500"/>
                  </a:spcBef>
                  <a:buClr>
                    <a:schemeClr val="accent5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70C0"/>
                    </a:solidFill>
                    <a:latin typeface="Calibri" panose="020F0502020204030204" pitchFamily="34" charset="0"/>
                  </a:defRPr>
                </a:lvl3pPr>
                <a:lvl4pPr marL="1600200" lvl="3" indent="-228600">
                  <a:lnSpc>
                    <a:spcPct val="90000"/>
                  </a:lnSpc>
                  <a:spcBef>
                    <a:spcPts val="500"/>
                  </a:spcBef>
                  <a:buClr>
                    <a:schemeClr val="accent5"/>
                  </a:buClr>
                  <a:buFont typeface="Arial" panose="020B0604020202020204" pitchFamily="34" charset="0"/>
                  <a:buChar char="•"/>
                  <a:defRPr sz="1600">
                    <a:solidFill>
                      <a:srgbClr val="0070C0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Tx/>
                  <a:buBlip>
                    <a:blip r:embed="rId2"/>
                  </a:buBlip>
                  <a:defRPr sz="1600">
                    <a:solidFill>
                      <a:srgbClr val="0070C0"/>
                    </a:solidFill>
                    <a:latin typeface="Roboto Light" panose="02000000000000000000" pitchFamily="2" charset="0"/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fr-FR" dirty="0"/>
                  <a:t>Reactive Transport PDE</a:t>
                </a:r>
              </a:p>
              <a:p>
                <a:endParaRPr lang="fr-FR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𝒯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𝒞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=0 </m:t>
                      </m:r>
                    </m:oMath>
                  </m:oMathPara>
                </a14:m>
                <a:endParaRPr lang="fr-FR" dirty="0"/>
              </a:p>
              <a:p>
                <a:r>
                  <a:rPr lang="fr-FR" dirty="0"/>
                  <a:t>Chemistry </a:t>
                </a:r>
                <a:r>
                  <a:rPr lang="fr-FR" dirty="0" err="1"/>
                  <a:t>operator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endParaRPr lang="fr-FR" dirty="0"/>
              </a:p>
              <a:p>
                <a:pPr lvl="1"/>
                <a:r>
                  <a:rPr lang="fr-FR" dirty="0" err="1"/>
                  <a:t>equilibrium</a:t>
                </a:r>
                <a:r>
                  <a:rPr lang="fr-FR" dirty="0"/>
                  <a:t> or </a:t>
                </a:r>
                <a:r>
                  <a:rPr lang="fr-FR" dirty="0" err="1"/>
                  <a:t>kinetic</a:t>
                </a:r>
                <a:r>
                  <a:rPr lang="fr-FR" dirty="0"/>
                  <a:t> </a:t>
                </a:r>
                <a:r>
                  <a:rPr lang="fr-FR" dirty="0" err="1"/>
                  <a:t>reactions</a:t>
                </a:r>
                <a:endParaRPr lang="fr-FR" dirty="0"/>
              </a:p>
              <a:p>
                <a:pPr lvl="1"/>
                <a:r>
                  <a:rPr lang="fr-FR" dirty="0"/>
                  <a:t>local</a:t>
                </a:r>
              </a:p>
              <a:p>
                <a:pPr lvl="1"/>
                <a:r>
                  <a:rPr lang="fr-FR" dirty="0" err="1"/>
                  <a:t>highly</a:t>
                </a:r>
                <a:r>
                  <a:rPr lang="fr-FR" dirty="0"/>
                  <a:t> non-</a:t>
                </a:r>
                <a:r>
                  <a:rPr lang="fr-FR" dirty="0" err="1"/>
                  <a:t>linear</a:t>
                </a:r>
                <a:endParaRPr lang="fr-FR" dirty="0"/>
              </a:p>
              <a:p>
                <a:endParaRPr lang="fr-FR" dirty="0"/>
              </a:p>
              <a:p>
                <a:r>
                  <a:rPr lang="fr-FR" dirty="0" err="1"/>
                  <a:t>Solvers</a:t>
                </a:r>
                <a:endParaRPr lang="fr-FR" dirty="0"/>
              </a:p>
              <a:p>
                <a:pPr lvl="1"/>
                <a:r>
                  <a:rPr lang="fr-FR" dirty="0"/>
                  <a:t>spatial + time </a:t>
                </a:r>
                <a:r>
                  <a:rPr lang="fr-FR" dirty="0" err="1"/>
                  <a:t>discretization</a:t>
                </a:r>
                <a:endParaRPr lang="fr-FR" dirty="0"/>
              </a:p>
              <a:p>
                <a:pPr lvl="1"/>
                <a:r>
                  <a:rPr lang="fr-FR" dirty="0" err="1"/>
                  <a:t>splitting</a:t>
                </a:r>
                <a:r>
                  <a:rPr lang="fr-FR" dirty="0"/>
                  <a:t> vs </a:t>
                </a:r>
                <a:r>
                  <a:rPr lang="fr-FR" dirty="0" err="1"/>
                  <a:t>fully</a:t>
                </a:r>
                <a:r>
                  <a:rPr lang="fr-FR" dirty="0"/>
                  <a:t> </a:t>
                </a:r>
                <a:r>
                  <a:rPr lang="fr-FR" dirty="0" err="1"/>
                  <a:t>implicit</a:t>
                </a:r>
                <a:r>
                  <a:rPr lang="fr-FR" dirty="0"/>
                  <a:t> </a:t>
                </a:r>
                <a:r>
                  <a:rPr lang="fr-FR" dirty="0" err="1"/>
                  <a:t>methods</a:t>
                </a:r>
                <a:endParaRPr lang="fr-FR" dirty="0"/>
              </a:p>
              <a:p>
                <a:endParaRPr lang="fr-FR" dirty="0">
                  <a:sym typeface="Wingdings" panose="05000000000000000000" pitchFamily="2" charset="2"/>
                </a:endParaRPr>
              </a:p>
              <a:p>
                <a:r>
                  <a:rPr lang="fr-FR" dirty="0">
                    <a:sym typeface="Wingdings" panose="05000000000000000000" pitchFamily="2" charset="2"/>
                  </a:rPr>
                  <a:t>Large </a:t>
                </a:r>
                <a:r>
                  <a:rPr lang="fr-FR" dirty="0" err="1">
                    <a:sym typeface="Wingdings" panose="05000000000000000000" pitchFamily="2" charset="2"/>
                  </a:rPr>
                  <a:t>amount</a:t>
                </a:r>
                <a:r>
                  <a:rPr lang="fr-FR" dirty="0">
                    <a:sym typeface="Wingdings" panose="05000000000000000000" pitchFamily="2" charset="2"/>
                  </a:rPr>
                  <a:t> of local </a:t>
                </a:r>
                <a:r>
                  <a:rPr lang="fr-FR" dirty="0" err="1">
                    <a:sym typeface="Wingdings" panose="05000000000000000000" pitchFamily="2" charset="2"/>
                  </a:rPr>
                  <a:t>chemistry</a:t>
                </a:r>
                <a:r>
                  <a:rPr lang="fr-FR" dirty="0">
                    <a:sym typeface="Wingdings" panose="05000000000000000000" pitchFamily="2" charset="2"/>
                  </a:rPr>
                  <a:t> to </a:t>
                </a:r>
                <a:r>
                  <a:rPr lang="fr-FR" dirty="0" err="1">
                    <a:sym typeface="Wingdings" panose="05000000000000000000" pitchFamily="2" charset="2"/>
                  </a:rPr>
                  <a:t>be</a:t>
                </a:r>
                <a:r>
                  <a:rPr lang="fr-FR" dirty="0">
                    <a:sym typeface="Wingdings" panose="05000000000000000000" pitchFamily="2" charset="2"/>
                  </a:rPr>
                  <a:t> </a:t>
                </a:r>
                <a:r>
                  <a:rPr lang="fr-FR" dirty="0" err="1">
                    <a:sym typeface="Wingdings" panose="05000000000000000000" pitchFamily="2" charset="2"/>
                  </a:rPr>
                  <a:t>solved</a:t>
                </a:r>
                <a:r>
                  <a:rPr lang="fr-FR" dirty="0">
                    <a:sym typeface="Wingdings" panose="05000000000000000000" pitchFamily="2" charset="2"/>
                  </a:rPr>
                  <a:t> at </a:t>
                </a:r>
                <a:r>
                  <a:rPr lang="fr-FR" dirty="0" err="1">
                    <a:sym typeface="Wingdings" panose="05000000000000000000" pitchFamily="2" charset="2"/>
                  </a:rPr>
                  <a:t>every</a:t>
                </a:r>
                <a:r>
                  <a:rPr lang="fr-FR" dirty="0">
                    <a:sym typeface="Wingdings" panose="05000000000000000000" pitchFamily="2" charset="2"/>
                  </a:rPr>
                  <a:t> </a:t>
                </a:r>
                <a:r>
                  <a:rPr lang="fr-FR" dirty="0" err="1">
                    <a:sym typeface="Wingdings" panose="05000000000000000000" pitchFamily="2" charset="2"/>
                  </a:rPr>
                  <a:t>mesch</a:t>
                </a:r>
                <a:r>
                  <a:rPr lang="fr-FR" dirty="0">
                    <a:sym typeface="Wingdings" panose="05000000000000000000" pitchFamily="2" charset="2"/>
                  </a:rPr>
                  <a:t> </a:t>
                </a:r>
                <a:r>
                  <a:rPr lang="fr-FR" dirty="0" err="1">
                    <a:sym typeface="Wingdings" panose="05000000000000000000" pitchFamily="2" charset="2"/>
                  </a:rPr>
                  <a:t>cell</a:t>
                </a:r>
                <a:r>
                  <a:rPr lang="fr-FR" dirty="0">
                    <a:sym typeface="Wingdings" panose="05000000000000000000" pitchFamily="2" charset="2"/>
                  </a:rPr>
                  <a:t> for </a:t>
                </a:r>
                <a:r>
                  <a:rPr lang="fr-FR" dirty="0" err="1">
                    <a:sym typeface="Wingdings" panose="05000000000000000000" pitchFamily="2" charset="2"/>
                  </a:rPr>
                  <a:t>every</a:t>
                </a:r>
                <a:r>
                  <a:rPr lang="fr-FR" dirty="0">
                    <a:sym typeface="Wingdings" panose="05000000000000000000" pitchFamily="2" charset="2"/>
                  </a:rPr>
                  <a:t> time </a:t>
                </a:r>
                <a:r>
                  <a:rPr lang="fr-FR" dirty="0" err="1">
                    <a:sym typeface="Wingdings" panose="05000000000000000000" pitchFamily="2" charset="2"/>
                  </a:rPr>
                  <a:t>step</a:t>
                </a:r>
                <a:endParaRPr lang="fr-FR" dirty="0">
                  <a:sym typeface="Wingdings" panose="05000000000000000000" pitchFamily="2" charset="2"/>
                </a:endParaRPr>
              </a:p>
              <a:p>
                <a:pPr lvl="1"/>
                <a:r>
                  <a:rPr lang="fr-FR" dirty="0">
                    <a:sym typeface="Wingdings" panose="05000000000000000000" pitchFamily="2" charset="2"/>
                  </a:rPr>
                  <a:t>&gt; 75% of total simulation time</a:t>
                </a:r>
                <a:endParaRPr lang="fr-FR" dirty="0"/>
              </a:p>
            </p:txBody>
          </p:sp>
        </mc:Choice>
        <mc:Fallback xmlns=""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3A7B31AC-0855-F8F6-F341-B5EE69E78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44" y="1113589"/>
                <a:ext cx="11381860" cy="5504329"/>
              </a:xfrm>
              <a:prstGeom prst="rect">
                <a:avLst/>
              </a:prstGeom>
              <a:blipFill>
                <a:blip r:embed="rId3"/>
                <a:stretch>
                  <a:fillRect l="-750" t="-21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re 1">
            <a:extLst>
              <a:ext uri="{FF2B5EF4-FFF2-40B4-BE49-F238E27FC236}">
                <a16:creationId xmlns:a16="http://schemas.microsoft.com/office/drawing/2014/main" id="{D68E0AF7-F905-A8C5-F8E9-D51081454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32" y="0"/>
            <a:ext cx="8277225" cy="514203"/>
          </a:xfrm>
        </p:spPr>
        <p:txBody>
          <a:bodyPr/>
          <a:lstStyle/>
          <a:p>
            <a:r>
              <a:rPr lang="fr-FR" dirty="0"/>
              <a:t>Issue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traditional</a:t>
            </a:r>
            <a:r>
              <a:rPr lang="fr-FR" dirty="0"/>
              <a:t> </a:t>
            </a:r>
            <a:r>
              <a:rPr lang="fr-FR" dirty="0" err="1"/>
              <a:t>solvers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4337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DCD6A-848C-982D-7EC7-3E5145D72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6FC2C7DC-AF33-1CDB-3AF2-DA012CF17C64}"/>
              </a:ext>
            </a:extLst>
          </p:cNvPr>
          <p:cNvSpPr txBox="1">
            <a:spLocks/>
          </p:cNvSpPr>
          <p:nvPr/>
        </p:nvSpPr>
        <p:spPr>
          <a:xfrm>
            <a:off x="241844" y="1113589"/>
            <a:ext cx="11381860" cy="5504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>
                <a:solidFill>
                  <a:srgbClr val="7030A0"/>
                </a:solidFill>
                <a:latin typeface="Calibri" panose="020F0502020204030204" pitchFamily="34" charset="0"/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0070C0"/>
                </a:solidFill>
                <a:latin typeface="Calibri" panose="020F0502020204030204" pitchFamily="34" charset="0"/>
              </a:defRPr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>
                <a:solidFill>
                  <a:srgbClr val="0070C0"/>
                </a:solidFill>
                <a:latin typeface="Calibri" panose="020F0502020204030204" pitchFamily="34" charset="0"/>
              </a:defRPr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>
                <a:solidFill>
                  <a:srgbClr val="0070C0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600">
                <a:solidFill>
                  <a:srgbClr val="0070C0"/>
                </a:solidFill>
                <a:latin typeface="Roboto Light" panose="02000000000000000000" pitchFamily="2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fr-FR" dirty="0" err="1"/>
              <a:t>Constraints</a:t>
            </a:r>
            <a:r>
              <a:rPr lang="fr-FR" dirty="0"/>
              <a:t> in </a:t>
            </a:r>
            <a:r>
              <a:rPr lang="fr-FR" dirty="0" err="1"/>
              <a:t>reactive</a:t>
            </a:r>
            <a:r>
              <a:rPr lang="fr-FR" dirty="0"/>
              <a:t> transport</a:t>
            </a:r>
          </a:p>
          <a:p>
            <a:pPr lvl="1"/>
            <a:r>
              <a:rPr lang="fr-FR" dirty="0" err="1"/>
              <a:t>Geometry</a:t>
            </a:r>
            <a:endParaRPr lang="fr-FR" dirty="0"/>
          </a:p>
          <a:p>
            <a:pPr lvl="1"/>
            <a:r>
              <a:rPr lang="fr-FR" dirty="0"/>
              <a:t>Initial and </a:t>
            </a:r>
            <a:r>
              <a:rPr lang="fr-FR" dirty="0" err="1"/>
              <a:t>Boundary</a:t>
            </a:r>
            <a:r>
              <a:rPr lang="fr-FR" dirty="0"/>
              <a:t> conditions</a:t>
            </a:r>
          </a:p>
          <a:p>
            <a:pPr lvl="1"/>
            <a:r>
              <a:rPr lang="fr-FR" dirty="0" err="1"/>
              <a:t>Parameters</a:t>
            </a:r>
            <a:r>
              <a:rPr lang="fr-FR" dirty="0"/>
              <a:t> (diffusion coefficients, </a:t>
            </a:r>
            <a:r>
              <a:rPr lang="fr-FR" dirty="0" err="1"/>
              <a:t>reaction</a:t>
            </a:r>
            <a:r>
              <a:rPr lang="fr-FR" dirty="0"/>
              <a:t> constants, etc.)</a:t>
            </a:r>
          </a:p>
          <a:p>
            <a:pPr lvl="1"/>
            <a:r>
              <a:rPr lang="fr-FR" dirty="0"/>
              <a:t>Chemical system</a:t>
            </a:r>
          </a:p>
          <a:p>
            <a:endParaRPr lang="fr-FR" dirty="0"/>
          </a:p>
          <a:p>
            <a:r>
              <a:rPr lang="fr-FR" dirty="0" err="1"/>
              <a:t>Redundancy</a:t>
            </a:r>
            <a:endParaRPr lang="fr-FR" dirty="0"/>
          </a:p>
          <a:p>
            <a:pPr lvl="1"/>
            <a:r>
              <a:rPr lang="fr-FR" dirty="0"/>
              <a:t>inter-simulations (optimisation, control, UQ, real-time)</a:t>
            </a:r>
          </a:p>
          <a:p>
            <a:pPr lvl="1"/>
            <a:r>
              <a:rPr lang="fr-FR" dirty="0"/>
              <a:t>intra-simulation (combustion front, </a:t>
            </a:r>
            <a:r>
              <a:rPr lang="fr-FR" dirty="0" err="1"/>
              <a:t>mineral</a:t>
            </a:r>
            <a:r>
              <a:rPr lang="fr-FR" dirty="0"/>
              <a:t> dissolution, etc.)</a:t>
            </a:r>
          </a:p>
          <a:p>
            <a:pPr lvl="1"/>
            <a:endParaRPr lang="fr-FR" dirty="0"/>
          </a:p>
          <a:p>
            <a:endParaRPr lang="fr-FR" dirty="0"/>
          </a:p>
          <a:p>
            <a:r>
              <a:rPr lang="fr-FR" dirty="0"/>
              <a:t>Strong </a:t>
            </a:r>
            <a:r>
              <a:rPr lang="fr-FR" dirty="0" err="1"/>
              <a:t>potential</a:t>
            </a:r>
            <a:r>
              <a:rPr lang="fr-FR" dirty="0"/>
              <a:t> of </a:t>
            </a:r>
            <a:r>
              <a:rPr lang="fr-FR" dirty="0" err="1"/>
              <a:t>surrogate</a:t>
            </a:r>
            <a:r>
              <a:rPr lang="fr-FR" dirty="0"/>
              <a:t> modeling</a:t>
            </a:r>
          </a:p>
          <a:p>
            <a:pPr lvl="1"/>
            <a:r>
              <a:rPr lang="fr-FR" dirty="0" err="1"/>
              <a:t>redudancy</a:t>
            </a:r>
            <a:r>
              <a:rPr lang="fr-FR" dirty="0"/>
              <a:t> + </a:t>
            </a:r>
            <a:r>
              <a:rPr lang="fr-FR" dirty="0" err="1"/>
              <a:t>space</a:t>
            </a:r>
            <a:r>
              <a:rPr lang="fr-FR" dirty="0"/>
              <a:t> </a:t>
            </a:r>
            <a:r>
              <a:rPr lang="fr-FR" dirty="0" err="1"/>
              <a:t>parallelism</a:t>
            </a:r>
            <a:r>
              <a:rPr lang="fr-FR" dirty="0"/>
              <a:t> !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677BDE5C-62F3-14AD-990B-CB410040A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32" y="0"/>
            <a:ext cx="8277225" cy="514203"/>
          </a:xfrm>
        </p:spPr>
        <p:txBody>
          <a:bodyPr/>
          <a:lstStyle/>
          <a:p>
            <a:r>
              <a:rPr lang="fr-FR" dirty="0"/>
              <a:t>Promise of </a:t>
            </a:r>
            <a:r>
              <a:rPr lang="fr-FR" dirty="0" err="1"/>
              <a:t>chemistry</a:t>
            </a:r>
            <a:r>
              <a:rPr lang="fr-FR" dirty="0"/>
              <a:t> </a:t>
            </a:r>
            <a:r>
              <a:rPr lang="fr-FR" dirty="0" err="1"/>
              <a:t>surrogate</a:t>
            </a:r>
            <a:r>
              <a:rPr lang="fr-FR" dirty="0"/>
              <a:t> modeling</a:t>
            </a:r>
          </a:p>
        </p:txBody>
      </p:sp>
    </p:spTree>
    <p:extLst>
      <p:ext uri="{BB962C8B-B14F-4D97-AF65-F5344CB8AC3E}">
        <p14:creationId xmlns:p14="http://schemas.microsoft.com/office/powerpoint/2010/main" val="335079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du texte 15"/>
          <p:cNvSpPr>
            <a:spLocks noGrp="1"/>
          </p:cNvSpPr>
          <p:nvPr>
            <p:ph type="body" sz="quarter" idx="14"/>
          </p:nvPr>
        </p:nvSpPr>
        <p:spPr>
          <a:xfrm>
            <a:off x="328265" y="2500876"/>
            <a:ext cx="11682615" cy="1177745"/>
          </a:xfrm>
        </p:spPr>
        <p:txBody>
          <a:bodyPr>
            <a:noAutofit/>
          </a:bodyPr>
          <a:lstStyle/>
          <a:p>
            <a:r>
              <a:rPr lang="fr-FR" sz="2400" b="1" dirty="0">
                <a:solidFill>
                  <a:srgbClr val="009999"/>
                </a:solidFill>
              </a:rPr>
              <a:t>A </a:t>
            </a:r>
            <a:r>
              <a:rPr lang="fr-FR" sz="2400" b="1" dirty="0" err="1">
                <a:solidFill>
                  <a:srgbClr val="009999"/>
                </a:solidFill>
              </a:rPr>
              <a:t>Practical</a:t>
            </a:r>
            <a:r>
              <a:rPr lang="fr-FR" sz="2400" b="1" dirty="0">
                <a:solidFill>
                  <a:srgbClr val="009999"/>
                </a:solidFill>
              </a:rPr>
              <a:t> </a:t>
            </a:r>
            <a:r>
              <a:rPr lang="fr-FR" sz="2400" b="1" dirty="0" err="1">
                <a:solidFill>
                  <a:srgbClr val="009999"/>
                </a:solidFill>
              </a:rPr>
              <a:t>example</a:t>
            </a:r>
            <a:r>
              <a:rPr lang="fr-FR" sz="2400" b="1" dirty="0">
                <a:solidFill>
                  <a:srgbClr val="009999"/>
                </a:solidFill>
              </a:rPr>
              <a:t> : </a:t>
            </a:r>
            <a:r>
              <a:rPr lang="fr-FR" sz="2400" b="1" dirty="0" err="1">
                <a:solidFill>
                  <a:srgbClr val="009999"/>
                </a:solidFill>
              </a:rPr>
              <a:t>Thermodynamical</a:t>
            </a:r>
            <a:r>
              <a:rPr lang="fr-FR" sz="2400" b="1" dirty="0">
                <a:solidFill>
                  <a:srgbClr val="009999"/>
                </a:solidFill>
              </a:rPr>
              <a:t> </a:t>
            </a:r>
            <a:r>
              <a:rPr lang="fr-FR" sz="2400" b="1" dirty="0" err="1">
                <a:solidFill>
                  <a:srgbClr val="009999"/>
                </a:solidFill>
              </a:rPr>
              <a:t>Equilibrium</a:t>
            </a:r>
            <a:endParaRPr lang="fr-FR" sz="2400" b="1" dirty="0">
              <a:solidFill>
                <a:srgbClr val="0099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541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7"/>
          <p:cNvSpPr txBox="1">
            <a:spLocks/>
          </p:cNvSpPr>
          <p:nvPr/>
        </p:nvSpPr>
        <p:spPr>
          <a:xfrm>
            <a:off x="838200" y="-3522"/>
            <a:ext cx="10515600" cy="5275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0" kern="1200" cap="all" baseline="0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fr-FR" dirty="0"/>
              <a:t>FLASH </a:t>
            </a:r>
            <a:r>
              <a:rPr lang="fr-FR" dirty="0" err="1"/>
              <a:t>calculations</a:t>
            </a:r>
            <a:endParaRPr lang="en-US" dirty="0"/>
          </a:p>
        </p:txBody>
      </p:sp>
      <p:pic>
        <p:nvPicPr>
          <p:cNvPr id="2" name="Picture 2" descr="Open Giftbox Images – Browse 244,657 Stock Photos, Vectors, and Video |  Adobe Stock">
            <a:extLst>
              <a:ext uri="{FF2B5EF4-FFF2-40B4-BE49-F238E27FC236}">
                <a16:creationId xmlns:a16="http://schemas.microsoft.com/office/drawing/2014/main" id="{0DD608E9-2EBF-704D-D5C5-24F107DB0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58" y="2960014"/>
            <a:ext cx="2926329" cy="2383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3E626E83-8C5B-14B0-3C07-926A3B8F5814}"/>
                  </a:ext>
                </a:extLst>
              </p:cNvPr>
              <p:cNvSpPr txBox="1"/>
              <p:nvPr/>
            </p:nvSpPr>
            <p:spPr>
              <a:xfrm>
                <a:off x="458108" y="2494204"/>
                <a:ext cx="4461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3E626E83-8C5B-14B0-3C07-926A3B8F5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8" y="2494204"/>
                <a:ext cx="44614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CD043AA7-2A14-98D1-97EF-BFF8AE87CE16}"/>
                  </a:ext>
                </a:extLst>
              </p:cNvPr>
              <p:cNvSpPr txBox="1"/>
              <p:nvPr/>
            </p:nvSpPr>
            <p:spPr>
              <a:xfrm>
                <a:off x="1567329" y="2260899"/>
                <a:ext cx="4514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CD043AA7-2A14-98D1-97EF-BFF8AE87C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329" y="2260899"/>
                <a:ext cx="45147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CFC3B26E-6AE3-A149-98BF-A0DF9CF738BB}"/>
                  </a:ext>
                </a:extLst>
              </p:cNvPr>
              <p:cNvSpPr txBox="1"/>
              <p:nvPr/>
            </p:nvSpPr>
            <p:spPr>
              <a:xfrm>
                <a:off x="3535587" y="2167536"/>
                <a:ext cx="4842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CFC3B26E-6AE3-A149-98BF-A0DF9CF73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5587" y="2167536"/>
                <a:ext cx="48423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ZoneTexte 6">
            <a:extLst>
              <a:ext uri="{FF2B5EF4-FFF2-40B4-BE49-F238E27FC236}">
                <a16:creationId xmlns:a16="http://schemas.microsoft.com/office/drawing/2014/main" id="{EC708C40-37EB-28E3-7D4D-E27B7064B79D}"/>
              </a:ext>
            </a:extLst>
          </p:cNvPr>
          <p:cNvSpPr txBox="1"/>
          <p:nvPr/>
        </p:nvSpPr>
        <p:spPr>
          <a:xfrm>
            <a:off x="1246492" y="1545160"/>
            <a:ext cx="19867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</a:t>
            </a:r>
            <a:r>
              <a:rPr lang="fr-FR" sz="16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composition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A1E47F8-AE32-89C0-B9F7-AD0D6C79C32E}"/>
              </a:ext>
            </a:extLst>
          </p:cNvPr>
          <p:cNvSpPr txBox="1"/>
          <p:nvPr/>
        </p:nvSpPr>
        <p:spPr>
          <a:xfrm>
            <a:off x="1568563" y="546224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096C49B-071B-F9B9-B6C2-D5855DE62141}"/>
              </a:ext>
            </a:extLst>
          </p:cNvPr>
          <p:cNvSpPr txBox="1"/>
          <p:nvPr/>
        </p:nvSpPr>
        <p:spPr>
          <a:xfrm>
            <a:off x="2727272" y="5462249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</a:t>
            </a:r>
          </a:p>
        </p:txBody>
      </p:sp>
      <p:cxnSp>
        <p:nvCxnSpPr>
          <p:cNvPr id="11" name="Connecteur : en arc 10">
            <a:extLst>
              <a:ext uri="{FF2B5EF4-FFF2-40B4-BE49-F238E27FC236}">
                <a16:creationId xmlns:a16="http://schemas.microsoft.com/office/drawing/2014/main" id="{F8F48905-AD5D-6B62-0BA8-A15B66F361E2}"/>
              </a:ext>
            </a:extLst>
          </p:cNvPr>
          <p:cNvCxnSpPr>
            <a:cxnSpLocks/>
            <a:stCxn id="3" idx="2"/>
          </p:cNvCxnSpPr>
          <p:nvPr/>
        </p:nvCxnSpPr>
        <p:spPr>
          <a:xfrm rot="16200000" flipH="1">
            <a:off x="977601" y="2567117"/>
            <a:ext cx="734243" cy="132708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 : en arc 11">
            <a:extLst>
              <a:ext uri="{FF2B5EF4-FFF2-40B4-BE49-F238E27FC236}">
                <a16:creationId xmlns:a16="http://schemas.microsoft.com/office/drawing/2014/main" id="{76E4B3F1-FA63-C710-845E-F3E61C73FE9B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1540341" y="2882954"/>
            <a:ext cx="952226" cy="44678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 : en arc 14">
            <a:extLst>
              <a:ext uri="{FF2B5EF4-FFF2-40B4-BE49-F238E27FC236}">
                <a16:creationId xmlns:a16="http://schemas.microsoft.com/office/drawing/2014/main" id="{8569F39F-6299-7F84-6B98-C2382A66EC08}"/>
              </a:ext>
            </a:extLst>
          </p:cNvPr>
          <p:cNvCxnSpPr>
            <a:cxnSpLocks/>
            <a:stCxn id="6" idx="2"/>
          </p:cNvCxnSpPr>
          <p:nvPr/>
        </p:nvCxnSpPr>
        <p:spPr>
          <a:xfrm rot="5400000">
            <a:off x="2689458" y="2434061"/>
            <a:ext cx="985440" cy="119105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FD0B1B11-FB2A-EC3E-2F71-41E7E9FD1A07}"/>
              </a:ext>
            </a:extLst>
          </p:cNvPr>
          <p:cNvCxnSpPr>
            <a:cxnSpLocks/>
          </p:cNvCxnSpPr>
          <p:nvPr/>
        </p:nvCxnSpPr>
        <p:spPr>
          <a:xfrm>
            <a:off x="4963903" y="3696981"/>
            <a:ext cx="3359965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FE658061-E2EA-F477-8CC8-7C48F7A0D95B}"/>
              </a:ext>
            </a:extLst>
          </p:cNvPr>
          <p:cNvSpPr txBox="1"/>
          <p:nvPr/>
        </p:nvSpPr>
        <p:spPr>
          <a:xfrm>
            <a:off x="8938601" y="2963598"/>
            <a:ext cx="19867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Condition</a:t>
            </a:r>
          </a:p>
          <a:p>
            <a:pPr algn="ctr"/>
            <a:endParaRPr lang="fr-FR" sz="1600" dirty="0">
              <a:solidFill>
                <a:srgbClr val="006AB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sz="16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  <a:p>
            <a:pPr algn="ctr"/>
            <a:endParaRPr lang="fr-FR" sz="1600" dirty="0">
              <a:solidFill>
                <a:srgbClr val="006AB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sz="16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Composition</a:t>
            </a:r>
          </a:p>
        </p:txBody>
      </p:sp>
    </p:spTree>
    <p:extLst>
      <p:ext uri="{BB962C8B-B14F-4D97-AF65-F5344CB8AC3E}">
        <p14:creationId xmlns:p14="http://schemas.microsoft.com/office/powerpoint/2010/main" val="2251907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813033" y="31156"/>
            <a:ext cx="89746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SAMPLING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E07AC8D-7E54-D121-3951-15CAF44BE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860" y="1932683"/>
            <a:ext cx="4196348" cy="4046181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2AFB004F-A3F3-0F18-41EB-C71434C40D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34" t="23628" r="35786" b="10064"/>
          <a:stretch/>
        </p:blipFill>
        <p:spPr>
          <a:xfrm>
            <a:off x="5726097" y="1284757"/>
            <a:ext cx="5627703" cy="534203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9E150A4-5BB3-36A9-D1AD-35C6F2D25D92}"/>
              </a:ext>
            </a:extLst>
          </p:cNvPr>
          <p:cNvSpPr txBox="1"/>
          <p:nvPr/>
        </p:nvSpPr>
        <p:spPr>
          <a:xfrm>
            <a:off x="4146259" y="879136"/>
            <a:ext cx="27914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fr-FR" sz="1800" baseline="-25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fr-FR" sz="18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O-CH</a:t>
            </a:r>
            <a:r>
              <a:rPr lang="fr-FR" sz="1800" baseline="-25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fr-FR" sz="18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8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binary</a:t>
            </a:r>
            <a:r>
              <a:rPr lang="fr-FR" sz="18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mixture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8491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7"/>
          <p:cNvSpPr txBox="1">
            <a:spLocks/>
          </p:cNvSpPr>
          <p:nvPr/>
        </p:nvSpPr>
        <p:spPr>
          <a:xfrm>
            <a:off x="838200" y="-26875"/>
            <a:ext cx="10515600" cy="5275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0" kern="1200" cap="all" baseline="0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 Black-box » </a:t>
            </a:r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model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838200" y="5980948"/>
            <a:ext cx="10094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Reactive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Transport Solver (</a:t>
            </a:r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Vectorization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essential)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F6CEE87-9153-9AFB-31CA-0F5A08331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813" y="3994857"/>
            <a:ext cx="2278805" cy="155445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9F5D046-A4B0-8D01-D7AE-0CAFAC35F5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382" y="4004145"/>
            <a:ext cx="2278805" cy="155085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EA0E0BD-F40D-6F05-A7B8-D44796FC19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813" y="2287328"/>
            <a:ext cx="2278805" cy="158760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B6F05DC-ADFD-D702-5EE3-10CA142140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383" y="2294817"/>
            <a:ext cx="2278805" cy="158011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89E9D8D-84AE-8CDB-331A-818B04CDE8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7500" y="2101241"/>
            <a:ext cx="2223128" cy="3213871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5DCAC2A3-D7A9-3489-E3C1-15EA1F4261E7}"/>
              </a:ext>
            </a:extLst>
          </p:cNvPr>
          <p:cNvSpPr txBox="1"/>
          <p:nvPr/>
        </p:nvSpPr>
        <p:spPr>
          <a:xfrm>
            <a:off x="1560443" y="1784682"/>
            <a:ext cx="2296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Classification </a:t>
            </a:r>
            <a:r>
              <a:rPr lang="fr-FR" dirty="0" err="1"/>
              <a:t>Accuracy</a:t>
            </a:r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93BA769-E7A1-CD8A-EC9D-D8B5AB6ED44E}"/>
              </a:ext>
            </a:extLst>
          </p:cNvPr>
          <p:cNvSpPr txBox="1"/>
          <p:nvPr/>
        </p:nvSpPr>
        <p:spPr>
          <a:xfrm>
            <a:off x="6135291" y="1807540"/>
            <a:ext cx="2779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Regression</a:t>
            </a:r>
            <a:r>
              <a:rPr lang="fr-FR" dirty="0"/>
              <a:t> MSE =  8,1×10⁻⁵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005D0D3-FCD7-DCB4-489B-21BFE9316032}"/>
              </a:ext>
            </a:extLst>
          </p:cNvPr>
          <p:cNvSpPr txBox="1"/>
          <p:nvPr/>
        </p:nvSpPr>
        <p:spPr>
          <a:xfrm>
            <a:off x="838200" y="1228871"/>
            <a:ext cx="10094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fr-FR" sz="2000" dirty="0">
              <a:solidFill>
                <a:srgbClr val="006AB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554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7"/>
          <p:cNvSpPr txBox="1">
            <a:spLocks/>
          </p:cNvSpPr>
          <p:nvPr/>
        </p:nvSpPr>
        <p:spPr>
          <a:xfrm>
            <a:off x="838200" y="0"/>
            <a:ext cx="10515600" cy="5275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0" kern="1200" cap="all" baseline="0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 Black-box » </a:t>
            </a:r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model</a:t>
            </a:r>
          </a:p>
        </p:txBody>
      </p:sp>
      <p:pic>
        <p:nvPicPr>
          <p:cNvPr id="9" name="Image 8" descr="Une image contenant nature, extérieur, orange&#10;&#10;Description générée automatiquement">
            <a:extLst>
              <a:ext uri="{FF2B5EF4-FFF2-40B4-BE49-F238E27FC236}">
                <a16:creationId xmlns:a16="http://schemas.microsoft.com/office/drawing/2014/main" id="{84531180-5390-7857-1F42-02392B0EF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215" y="817973"/>
            <a:ext cx="6355569" cy="357931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D8A37DE1-AE54-1DF0-B2A4-19A7B4393ADD}"/>
              </a:ext>
            </a:extLst>
          </p:cNvPr>
          <p:cNvSpPr txBox="1"/>
          <p:nvPr/>
        </p:nvSpPr>
        <p:spPr>
          <a:xfrm>
            <a:off x="628476" y="5532195"/>
            <a:ext cx="100948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Local, </a:t>
            </a:r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errors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blow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up in </a:t>
            </a:r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finite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time</a:t>
            </a:r>
          </a:p>
          <a:p>
            <a:endParaRPr lang="fr-FR" sz="2000" dirty="0">
              <a:solidFill>
                <a:srgbClr val="006AB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? No </a:t>
            </a:r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guarantee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on the solution, no </a:t>
            </a:r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physics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no </a:t>
            </a:r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stability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58FBA16-4ADA-89DF-C508-B25965F9A5B2}"/>
              </a:ext>
            </a:extLst>
          </p:cNvPr>
          <p:cNvSpPr txBox="1"/>
          <p:nvPr/>
        </p:nvSpPr>
        <p:spPr>
          <a:xfrm>
            <a:off x="75501" y="4687752"/>
            <a:ext cx="121164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CATACLISM : </a:t>
            </a:r>
            <a:r>
              <a:rPr lang="fr-FR" sz="2000" b="1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oupling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000" b="1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I, </a:t>
            </a:r>
            <a:r>
              <a:rPr lang="fr-FR" sz="2000" b="1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ransport </a:t>
            </a:r>
            <a:r>
              <a:rPr lang="fr-FR" sz="2000" b="1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 </a:t>
            </a:r>
            <a:r>
              <a:rPr lang="fr-FR" sz="2000" b="1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hemistry for </a:t>
            </a:r>
            <a:r>
              <a:rPr lang="fr-FR" sz="2000" b="1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arge-</a:t>
            </a:r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000" b="1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nnovative </a:t>
            </a:r>
            <a:r>
              <a:rPr lang="fr-FR" sz="2000" b="1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imulation and </a:t>
            </a:r>
            <a:r>
              <a:rPr lang="fr-FR" sz="2000" b="1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odeling</a:t>
            </a:r>
          </a:p>
        </p:txBody>
      </p:sp>
    </p:spTree>
    <p:extLst>
      <p:ext uri="{BB962C8B-B14F-4D97-AF65-F5344CB8AC3E}">
        <p14:creationId xmlns:p14="http://schemas.microsoft.com/office/powerpoint/2010/main" val="3687911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9A498-83D8-35C3-D099-98C550470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7">
            <a:extLst>
              <a:ext uri="{FF2B5EF4-FFF2-40B4-BE49-F238E27FC236}">
                <a16:creationId xmlns:a16="http://schemas.microsoft.com/office/drawing/2014/main" id="{B158382C-3DC6-4F2E-6B20-E36634857B43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5275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0" kern="1200" cap="all" baseline="0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 Black-box » </a:t>
            </a:r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model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3A8E283-58C9-DE3D-004F-01281F72492A}"/>
              </a:ext>
            </a:extLst>
          </p:cNvPr>
          <p:cNvSpPr txBox="1"/>
          <p:nvPr/>
        </p:nvSpPr>
        <p:spPr>
          <a:xfrm>
            <a:off x="838200" y="5914568"/>
            <a:ext cx="100948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</a:t>
            </a:r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heavily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depends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on </a:t>
            </a:r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parallelism</a:t>
            </a:r>
            <a:endParaRPr lang="fr-FR" sz="2000" dirty="0">
              <a:solidFill>
                <a:srgbClr val="006AB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2000" dirty="0">
              <a:solidFill>
                <a:srgbClr val="006AB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GPU not </a:t>
            </a:r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necessarily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winner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61A0C0C-2559-F0EC-547B-81A8746D4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355" y="1261170"/>
            <a:ext cx="4663536" cy="391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06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8B7DD-ECE1-1EAF-435A-B5928DFFE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DA4AF96A-A52D-239D-CB26-0A374B37AB5A}"/>
              </a:ext>
            </a:extLst>
          </p:cNvPr>
          <p:cNvSpPr txBox="1">
            <a:spLocks/>
          </p:cNvSpPr>
          <p:nvPr/>
        </p:nvSpPr>
        <p:spPr>
          <a:xfrm>
            <a:off x="241844" y="1113589"/>
            <a:ext cx="11381860" cy="5504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>
                <a:solidFill>
                  <a:srgbClr val="7030A0"/>
                </a:solidFill>
                <a:latin typeface="Calibri" panose="020F0502020204030204" pitchFamily="34" charset="0"/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0070C0"/>
                </a:solidFill>
                <a:latin typeface="Calibri" panose="020F0502020204030204" pitchFamily="34" charset="0"/>
              </a:defRPr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>
                <a:solidFill>
                  <a:srgbClr val="0070C0"/>
                </a:solidFill>
                <a:latin typeface="Calibri" panose="020F0502020204030204" pitchFamily="34" charset="0"/>
              </a:defRPr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>
                <a:solidFill>
                  <a:srgbClr val="0070C0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600">
                <a:solidFill>
                  <a:srgbClr val="0070C0"/>
                </a:solidFill>
                <a:latin typeface="Roboto Light" panose="02000000000000000000" pitchFamily="2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fr-FR" dirty="0" err="1"/>
              <a:t>Numerical</a:t>
            </a:r>
            <a:r>
              <a:rPr lang="fr-FR" dirty="0"/>
              <a:t> challenges</a:t>
            </a:r>
          </a:p>
          <a:p>
            <a:pPr lvl="1"/>
            <a:r>
              <a:rPr lang="fr-FR" dirty="0" err="1"/>
              <a:t>Precision</a:t>
            </a:r>
            <a:endParaRPr lang="fr-FR" dirty="0"/>
          </a:p>
          <a:p>
            <a:pPr lvl="1"/>
            <a:r>
              <a:rPr lang="en-US" dirty="0"/>
              <a:t>Stability</a:t>
            </a:r>
          </a:p>
          <a:p>
            <a:pPr lvl="1"/>
            <a:r>
              <a:rPr lang="en-US" dirty="0" err="1"/>
              <a:t>Generalisation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Computational challenges</a:t>
            </a:r>
          </a:p>
          <a:p>
            <a:pPr lvl="1"/>
            <a:r>
              <a:rPr lang="fr-FR" dirty="0"/>
              <a:t>Fast </a:t>
            </a:r>
            <a:r>
              <a:rPr lang="fr-FR" dirty="0" err="1"/>
              <a:t>surrogates</a:t>
            </a:r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ECE56302-DFD0-C948-4A93-C9DB63C54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32" y="0"/>
            <a:ext cx="10863872" cy="514203"/>
          </a:xfrm>
        </p:spPr>
        <p:txBody>
          <a:bodyPr/>
          <a:lstStyle/>
          <a:p>
            <a:r>
              <a:rPr lang="fr-FR" dirty="0"/>
              <a:t>Basic Challenges</a:t>
            </a:r>
          </a:p>
        </p:txBody>
      </p:sp>
    </p:spTree>
    <p:extLst>
      <p:ext uri="{BB962C8B-B14F-4D97-AF65-F5344CB8AC3E}">
        <p14:creationId xmlns:p14="http://schemas.microsoft.com/office/powerpoint/2010/main" val="3548115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FE306-941C-D47F-B90C-6509C8DB0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3B3706C6-F1AB-A700-AA17-B1700C07B4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8265" y="2500876"/>
            <a:ext cx="11682615" cy="1177745"/>
          </a:xfrm>
        </p:spPr>
        <p:txBody>
          <a:bodyPr>
            <a:noAutofit/>
          </a:bodyPr>
          <a:lstStyle/>
          <a:p>
            <a:r>
              <a:rPr lang="fr-FR" sz="2400" b="1" dirty="0" err="1">
                <a:solidFill>
                  <a:srgbClr val="009999"/>
                </a:solidFill>
              </a:rPr>
              <a:t>Some</a:t>
            </a:r>
            <a:r>
              <a:rPr lang="fr-FR" sz="2400" b="1" dirty="0">
                <a:solidFill>
                  <a:srgbClr val="009999"/>
                </a:solidFill>
              </a:rPr>
              <a:t> leads and </a:t>
            </a:r>
            <a:r>
              <a:rPr lang="fr-FR" sz="2400" b="1" dirty="0" err="1">
                <a:solidFill>
                  <a:srgbClr val="009999"/>
                </a:solidFill>
              </a:rPr>
              <a:t>some</a:t>
            </a:r>
            <a:r>
              <a:rPr lang="fr-FR" sz="2400" b="1" dirty="0">
                <a:solidFill>
                  <a:srgbClr val="009999"/>
                </a:solidFill>
              </a:rPr>
              <a:t> more challenges</a:t>
            </a:r>
          </a:p>
        </p:txBody>
      </p:sp>
    </p:spTree>
    <p:extLst>
      <p:ext uri="{BB962C8B-B14F-4D97-AF65-F5344CB8AC3E}">
        <p14:creationId xmlns:p14="http://schemas.microsoft.com/office/powerpoint/2010/main" val="1385618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F5D66D43-1042-902D-D9F3-820CB0744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794610"/>
            <a:ext cx="4253717" cy="3008036"/>
          </a:xfrm>
          <a:prstGeom prst="rect">
            <a:avLst/>
          </a:prstGeom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990C5857-6723-ED91-2E25-0D4E34359927}"/>
              </a:ext>
            </a:extLst>
          </p:cNvPr>
          <p:cNvCxnSpPr>
            <a:cxnSpLocks/>
          </p:cNvCxnSpPr>
          <p:nvPr/>
        </p:nvCxnSpPr>
        <p:spPr>
          <a:xfrm>
            <a:off x="5645911" y="4298627"/>
            <a:ext cx="1285916" cy="1"/>
          </a:xfrm>
          <a:prstGeom prst="straightConnector1">
            <a:avLst/>
          </a:prstGeom>
          <a:ln w="38100">
            <a:solidFill>
              <a:srgbClr val="00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>
            <a:extLst>
              <a:ext uri="{FF2B5EF4-FFF2-40B4-BE49-F238E27FC236}">
                <a16:creationId xmlns:a16="http://schemas.microsoft.com/office/drawing/2014/main" id="{E577BEB6-7250-C895-03EA-BEB12D0D2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822" y="2794610"/>
            <a:ext cx="4253717" cy="303836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89B27AA-A6C7-A116-6222-1DB559D8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32" y="0"/>
            <a:ext cx="10863872" cy="514203"/>
          </a:xfrm>
        </p:spPr>
        <p:txBody>
          <a:bodyPr/>
          <a:lstStyle/>
          <a:p>
            <a:r>
              <a:rPr lang="fr-FR" dirty="0"/>
              <a:t>SAMPLING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40B9F1-E452-2E29-C4D7-1CDCC637B143}"/>
              </a:ext>
            </a:extLst>
          </p:cNvPr>
          <p:cNvSpPr txBox="1">
            <a:spLocks/>
          </p:cNvSpPr>
          <p:nvPr/>
        </p:nvSpPr>
        <p:spPr>
          <a:xfrm>
            <a:off x="241844" y="1113590"/>
            <a:ext cx="11381860" cy="818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>
                <a:solidFill>
                  <a:srgbClr val="7030A0"/>
                </a:solidFill>
                <a:latin typeface="Calibri" panose="020F0502020204030204" pitchFamily="34" charset="0"/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0070C0"/>
                </a:solidFill>
                <a:latin typeface="Calibri" panose="020F0502020204030204" pitchFamily="34" charset="0"/>
              </a:defRPr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>
                <a:solidFill>
                  <a:srgbClr val="0070C0"/>
                </a:solidFill>
                <a:latin typeface="Calibri" panose="020F0502020204030204" pitchFamily="34" charset="0"/>
              </a:defRPr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>
                <a:solidFill>
                  <a:srgbClr val="0070C0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600">
                <a:solidFill>
                  <a:srgbClr val="0070C0"/>
                </a:solidFill>
                <a:latin typeface="Roboto Light" panose="02000000000000000000" pitchFamily="2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fr-FR" dirty="0"/>
              <a:t>High </a:t>
            </a:r>
            <a:r>
              <a:rPr lang="fr-FR" dirty="0" err="1"/>
              <a:t>dimensional</a:t>
            </a:r>
            <a:r>
              <a:rPr lang="fr-FR" dirty="0"/>
              <a:t> sampling on simplex (∑𝑧</a:t>
            </a:r>
            <a:r>
              <a:rPr lang="fr-FR" baseline="-25000" dirty="0"/>
              <a:t>𝑖</a:t>
            </a:r>
            <a:r>
              <a:rPr lang="fr-FR" dirty="0"/>
              <a:t>=1): Dirichlet distribution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001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A716631-0056-F884-9C02-ACDE55BAF171}"/>
                  </a:ext>
                </a:extLst>
              </p:cNvPr>
              <p:cNvSpPr txBox="1"/>
              <p:nvPr/>
            </p:nvSpPr>
            <p:spPr>
              <a:xfrm>
                <a:off x="6041107" y="1871334"/>
                <a:ext cx="6097656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/>
                              <a:ea typeface="Roboto" panose="02000000000000000000" pitchFamily="2" charset="0"/>
                            </a:rPr>
                            <m:t>𝑋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/>
                              <a:ea typeface="Roboto" panose="02000000000000000000" pitchFamily="2" charset="0"/>
                            </a:rPr>
                            <m:t>𝑜𝑣𝑒𝑟𝑠𝑎𝑚𝑝𝑙𝑒𝑑</m:t>
                          </m:r>
                        </m:sub>
                      </m:sSub>
                      <m:r>
                        <a:rPr lang="fr-FR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r>
                        <a:rPr lang="fr-FR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𝑋</m:t>
                      </m:r>
                      <m:r>
                        <a:rPr lang="fr-FR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+</m:t>
                      </m:r>
                      <m:r>
                        <a:rPr lang="fr-FR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𝜀</m:t>
                      </m:r>
                    </m:oMath>
                  </m:oMathPara>
                </a14:m>
                <a:endParaRPr lang="fr-FR" sz="1800" dirty="0"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A716631-0056-F884-9C02-ACDE55BAF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107" y="1871334"/>
                <a:ext cx="6097656" cy="390748"/>
              </a:xfrm>
              <a:prstGeom prst="rect">
                <a:avLst/>
              </a:prstGeom>
              <a:blipFill>
                <a:blip r:embed="rId2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 3">
            <a:extLst>
              <a:ext uri="{FF2B5EF4-FFF2-40B4-BE49-F238E27FC236}">
                <a16:creationId xmlns:a16="http://schemas.microsoft.com/office/drawing/2014/main" id="{34156C84-11B7-D6B6-8950-AEEF5EFF284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34" t="23628" r="35786" b="10064"/>
          <a:stretch/>
        </p:blipFill>
        <p:spPr>
          <a:xfrm>
            <a:off x="1046864" y="2331656"/>
            <a:ext cx="4237856" cy="402273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C780F8A-92B7-5A60-736D-23DF26FA657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07281" y="2449153"/>
            <a:ext cx="3881587" cy="4022736"/>
          </a:xfrm>
          <a:prstGeom prst="rect">
            <a:avLst/>
          </a:prstGeom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E1094B87-7664-8779-99E1-AA567DA6EAB2}"/>
              </a:ext>
            </a:extLst>
          </p:cNvPr>
          <p:cNvCxnSpPr>
            <a:cxnSpLocks/>
          </p:cNvCxnSpPr>
          <p:nvPr/>
        </p:nvCxnSpPr>
        <p:spPr>
          <a:xfrm>
            <a:off x="5398149" y="3975685"/>
            <a:ext cx="1285916" cy="1"/>
          </a:xfrm>
          <a:prstGeom prst="straightConnector1">
            <a:avLst/>
          </a:prstGeom>
          <a:ln w="38100">
            <a:solidFill>
              <a:srgbClr val="00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E911A97D-0EA3-5F54-0533-056E9165C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32" y="0"/>
            <a:ext cx="10863872" cy="514203"/>
          </a:xfrm>
        </p:spPr>
        <p:txBody>
          <a:bodyPr/>
          <a:lstStyle/>
          <a:p>
            <a:r>
              <a:rPr lang="fr-FR" dirty="0"/>
              <a:t>SAMPLING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A0FC0908-2BB9-3BAA-0311-99E31F76E9BA}"/>
              </a:ext>
            </a:extLst>
          </p:cNvPr>
          <p:cNvSpPr txBox="1">
            <a:spLocks/>
          </p:cNvSpPr>
          <p:nvPr/>
        </p:nvSpPr>
        <p:spPr>
          <a:xfrm>
            <a:off x="241844" y="1108990"/>
            <a:ext cx="11381860" cy="631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>
                <a:solidFill>
                  <a:srgbClr val="7030A0"/>
                </a:solidFill>
                <a:latin typeface="Calibri" panose="020F0502020204030204" pitchFamily="34" charset="0"/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0070C0"/>
                </a:solidFill>
                <a:latin typeface="Calibri" panose="020F0502020204030204" pitchFamily="34" charset="0"/>
              </a:defRPr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>
                <a:solidFill>
                  <a:srgbClr val="0070C0"/>
                </a:solidFill>
                <a:latin typeface="Calibri" panose="020F0502020204030204" pitchFamily="34" charset="0"/>
              </a:defRPr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>
                <a:solidFill>
                  <a:srgbClr val="0070C0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Tx/>
              <a:buBlip>
                <a:blip r:embed="rId5"/>
              </a:buBlip>
              <a:defRPr sz="1600">
                <a:solidFill>
                  <a:srgbClr val="0070C0"/>
                </a:solidFill>
                <a:latin typeface="Roboto Light" panose="02000000000000000000" pitchFamily="2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Unbalanced classes: Add random noise to samples</a:t>
            </a:r>
          </a:p>
          <a:p>
            <a:endParaRPr lang="en-US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5343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532ADC5-1473-ABF9-224F-665183E15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42" y="2764309"/>
            <a:ext cx="2342505" cy="284259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C52D849-2C35-5042-A2F0-B9E70F972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229" y="2674545"/>
            <a:ext cx="2798256" cy="3022117"/>
          </a:xfrm>
          <a:prstGeom prst="rect">
            <a:avLst/>
          </a:prstGeom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6F28DAEC-063F-CA4C-8080-D5AA6E497412}"/>
              </a:ext>
            </a:extLst>
          </p:cNvPr>
          <p:cNvCxnSpPr>
            <a:cxnSpLocks/>
          </p:cNvCxnSpPr>
          <p:nvPr/>
        </p:nvCxnSpPr>
        <p:spPr>
          <a:xfrm>
            <a:off x="2952406" y="3956546"/>
            <a:ext cx="1003368" cy="0"/>
          </a:xfrm>
          <a:prstGeom prst="straightConnector1">
            <a:avLst/>
          </a:prstGeom>
          <a:ln w="38100">
            <a:solidFill>
              <a:srgbClr val="00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 12">
            <a:extLst>
              <a:ext uri="{FF2B5EF4-FFF2-40B4-BE49-F238E27FC236}">
                <a16:creationId xmlns:a16="http://schemas.microsoft.com/office/drawing/2014/main" id="{D9DF77E0-2DA0-B4A3-DC2F-85BF0399D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1622" y="2646316"/>
            <a:ext cx="4198778" cy="262046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07BA27E-CC65-2763-DE84-D9844FBC7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32" y="0"/>
            <a:ext cx="10863872" cy="514203"/>
          </a:xfrm>
        </p:spPr>
        <p:txBody>
          <a:bodyPr/>
          <a:lstStyle/>
          <a:p>
            <a:r>
              <a:rPr lang="fr-FR" dirty="0"/>
              <a:t>SAMPLING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A93A6A26-DD18-D5F1-B804-E64FEEB7C094}"/>
              </a:ext>
            </a:extLst>
          </p:cNvPr>
          <p:cNvSpPr txBox="1">
            <a:spLocks/>
          </p:cNvSpPr>
          <p:nvPr/>
        </p:nvSpPr>
        <p:spPr>
          <a:xfrm>
            <a:off x="241844" y="1108990"/>
            <a:ext cx="11381860" cy="631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>
                <a:solidFill>
                  <a:srgbClr val="7030A0"/>
                </a:solidFill>
                <a:latin typeface="Calibri" panose="020F0502020204030204" pitchFamily="34" charset="0"/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0070C0"/>
                </a:solidFill>
                <a:latin typeface="Calibri" panose="020F0502020204030204" pitchFamily="34" charset="0"/>
              </a:defRPr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>
                <a:solidFill>
                  <a:srgbClr val="0070C0"/>
                </a:solidFill>
                <a:latin typeface="Calibri" panose="020F0502020204030204" pitchFamily="34" charset="0"/>
              </a:defRPr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>
                <a:solidFill>
                  <a:srgbClr val="0070C0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Tx/>
              <a:buBlip>
                <a:blip r:embed="rId5"/>
              </a:buBlip>
              <a:defRPr sz="1600">
                <a:solidFill>
                  <a:srgbClr val="0070C0"/>
                </a:solidFill>
                <a:latin typeface="Roboto Light" panose="02000000000000000000" pitchFamily="2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Active Learning</a:t>
            </a:r>
          </a:p>
          <a:p>
            <a:endParaRPr lang="en-US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1970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17CB5-030A-41CA-A84A-7189E087D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02573A-FCAA-363B-807B-C71E9FED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32" y="0"/>
            <a:ext cx="10863872" cy="514203"/>
          </a:xfrm>
        </p:spPr>
        <p:txBody>
          <a:bodyPr/>
          <a:lstStyle/>
          <a:p>
            <a:r>
              <a:rPr lang="fr-FR" dirty="0"/>
              <a:t>SAMPLING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2F3B68D5-5447-0790-A0FF-F7371A1B8308}"/>
              </a:ext>
            </a:extLst>
          </p:cNvPr>
          <p:cNvSpPr txBox="1">
            <a:spLocks/>
          </p:cNvSpPr>
          <p:nvPr/>
        </p:nvSpPr>
        <p:spPr>
          <a:xfrm>
            <a:off x="241844" y="1108989"/>
            <a:ext cx="11381860" cy="12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>
                <a:solidFill>
                  <a:srgbClr val="7030A0"/>
                </a:solidFill>
                <a:latin typeface="Calibri" panose="020F0502020204030204" pitchFamily="34" charset="0"/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0070C0"/>
                </a:solidFill>
                <a:latin typeface="Calibri" panose="020F0502020204030204" pitchFamily="34" charset="0"/>
              </a:defRPr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>
                <a:solidFill>
                  <a:srgbClr val="0070C0"/>
                </a:solidFill>
                <a:latin typeface="Calibri" panose="020F0502020204030204" pitchFamily="34" charset="0"/>
              </a:defRPr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>
                <a:solidFill>
                  <a:srgbClr val="0070C0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600">
                <a:solidFill>
                  <a:srgbClr val="0070C0"/>
                </a:solidFill>
                <a:latin typeface="Roboto Light" panose="02000000000000000000" pitchFamily="2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Online learning</a:t>
            </a:r>
          </a:p>
          <a:p>
            <a:pPr lvl="1"/>
            <a:r>
              <a:rPr lang="en-US" dirty="0"/>
              <a:t>Flag bad predictions and add them to database</a:t>
            </a:r>
          </a:p>
          <a:p>
            <a:pPr lvl="1"/>
            <a:r>
              <a:rPr lang="en-US" dirty="0"/>
              <a:t>Retrain model periodically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3D5B48A8-72F6-3BE6-3098-7B109B4257A5}"/>
              </a:ext>
            </a:extLst>
          </p:cNvPr>
          <p:cNvSpPr txBox="1">
            <a:spLocks/>
          </p:cNvSpPr>
          <p:nvPr/>
        </p:nvSpPr>
        <p:spPr>
          <a:xfrm>
            <a:off x="241844" y="2989194"/>
            <a:ext cx="11381860" cy="12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>
                <a:solidFill>
                  <a:srgbClr val="7030A0"/>
                </a:solidFill>
                <a:latin typeface="Calibri" panose="020F0502020204030204" pitchFamily="34" charset="0"/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0070C0"/>
                </a:solidFill>
                <a:latin typeface="Calibri" panose="020F0502020204030204" pitchFamily="34" charset="0"/>
              </a:defRPr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>
                <a:solidFill>
                  <a:srgbClr val="0070C0"/>
                </a:solidFill>
                <a:latin typeface="Calibri" panose="020F0502020204030204" pitchFamily="34" charset="0"/>
              </a:defRPr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>
                <a:solidFill>
                  <a:srgbClr val="0070C0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600">
                <a:solidFill>
                  <a:srgbClr val="0070C0"/>
                </a:solidFill>
                <a:latin typeface="Roboto Light" panose="02000000000000000000" pitchFamily="2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New challenges</a:t>
            </a:r>
          </a:p>
          <a:p>
            <a:pPr lvl="1"/>
            <a:r>
              <a:rPr lang="en-US" dirty="0"/>
              <a:t>UQ for chemistry models</a:t>
            </a:r>
          </a:p>
          <a:p>
            <a:pPr lvl="1"/>
            <a:r>
              <a:rPr lang="en-US" dirty="0"/>
              <a:t>Move data to GPU to retrain model during computation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436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ZoneTexte 68">
            <a:extLst>
              <a:ext uri="{FF2B5EF4-FFF2-40B4-BE49-F238E27FC236}">
                <a16:creationId xmlns:a16="http://schemas.microsoft.com/office/drawing/2014/main" id="{3F6BB075-4E3E-4502-AD39-CC9C0D8761D0}"/>
              </a:ext>
            </a:extLst>
          </p:cNvPr>
          <p:cNvSpPr txBox="1"/>
          <p:nvPr/>
        </p:nvSpPr>
        <p:spPr>
          <a:xfrm>
            <a:off x="2938444" y="1567182"/>
            <a:ext cx="6148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Numerical </a:t>
            </a:r>
            <a:r>
              <a:rPr lang="en-US" b="1" dirty="0"/>
              <a:t>PT-flash calculations for vapor-liquid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Organigramme : Alternative 70">
                <a:extLst>
                  <a:ext uri="{FF2B5EF4-FFF2-40B4-BE49-F238E27FC236}">
                    <a16:creationId xmlns:a16="http://schemas.microsoft.com/office/drawing/2014/main" id="{4A844092-51FB-4723-B3F7-C0421665566A}"/>
                  </a:ext>
                </a:extLst>
              </p:cNvPr>
              <p:cNvSpPr/>
              <p:nvPr/>
            </p:nvSpPr>
            <p:spPr>
              <a:xfrm>
                <a:off x="7353314" y="2982065"/>
                <a:ext cx="2214960" cy="1019371"/>
              </a:xfrm>
              <a:prstGeom prst="flowChartAlternateProcess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fr-FR" altLang="zh-CN" sz="1400" b="1" dirty="0"/>
                  <a:t>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fr-F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fr-FR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</m:sSub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Sup>
                          <m:sSubSup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14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bSup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,   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1400" b="1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fr-FR" altLang="zh-CN" sz="1400" b="1" dirty="0"/>
                  <a:t>via the </a:t>
                </a:r>
                <a:r>
                  <a:rPr lang="en-US" altLang="zh-CN" sz="1400" b="1" dirty="0">
                    <a:solidFill>
                      <a:schemeClr val="tx1"/>
                    </a:solidFill>
                  </a:rPr>
                  <a:t>r</a:t>
                </a:r>
                <a:r>
                  <a:rPr lang="en-US" sz="1400" b="1" dirty="0">
                    <a:solidFill>
                      <a:schemeClr val="tx1"/>
                    </a:solidFill>
                  </a:rPr>
                  <a:t>esidual approach</a:t>
                </a:r>
              </a:p>
            </p:txBody>
          </p:sp>
        </mc:Choice>
        <mc:Fallback xmlns="">
          <p:sp>
            <p:nvSpPr>
              <p:cNvPr id="71" name="Organigramme : Alternative 7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A844092-51FB-4723-B3F7-C042166556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314" y="2982065"/>
                <a:ext cx="2214960" cy="1019371"/>
              </a:xfrm>
              <a:prstGeom prst="flowChartAlternateProcess">
                <a:avLst/>
              </a:prstGeom>
              <a:blipFill rotWithShape="1">
                <a:blip r:embed="rId2"/>
                <a:stretch>
                  <a:fillRect b="-578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Connecteur droit avec flèche 71">
            <a:extLst>
              <a:ext uri="{FF2B5EF4-FFF2-40B4-BE49-F238E27FC236}">
                <a16:creationId xmlns:a16="http://schemas.microsoft.com/office/drawing/2014/main" id="{2C495AB5-1C95-42AF-AE21-262618DE0109}"/>
              </a:ext>
            </a:extLst>
          </p:cNvPr>
          <p:cNvCxnSpPr>
            <a:cxnSpLocks/>
            <a:stCxn id="71" idx="3"/>
            <a:endCxn id="110" idx="1"/>
          </p:cNvCxnSpPr>
          <p:nvPr/>
        </p:nvCxnSpPr>
        <p:spPr>
          <a:xfrm>
            <a:off x="9568274" y="3491751"/>
            <a:ext cx="18627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F1E04390-AA99-4B56-BFAD-080A4D165939}"/>
              </a:ext>
            </a:extLst>
          </p:cNvPr>
          <p:cNvGrpSpPr/>
          <p:nvPr/>
        </p:nvGrpSpPr>
        <p:grpSpPr>
          <a:xfrm>
            <a:off x="8378983" y="5010295"/>
            <a:ext cx="2538782" cy="1498297"/>
            <a:chOff x="8952636" y="3871096"/>
            <a:chExt cx="2474174" cy="1498297"/>
          </a:xfrm>
        </p:grpSpPr>
        <p:sp>
          <p:nvSpPr>
            <p:cNvPr id="75" name="ZoneTexte 74">
              <a:extLst>
                <a:ext uri="{FF2B5EF4-FFF2-40B4-BE49-F238E27FC236}">
                  <a16:creationId xmlns:a16="http://schemas.microsoft.com/office/drawing/2014/main" id="{E95E75A4-7275-407C-B615-4975610FC1E8}"/>
                </a:ext>
              </a:extLst>
            </p:cNvPr>
            <p:cNvSpPr txBox="1"/>
            <p:nvPr/>
          </p:nvSpPr>
          <p:spPr>
            <a:xfrm>
              <a:off x="9269772" y="3871096"/>
              <a:ext cx="18399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The residual approach</a:t>
              </a:r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ZoneTexte 75">
                  <a:extLst>
                    <a:ext uri="{FF2B5EF4-FFF2-40B4-BE49-F238E27FC236}">
                      <a16:creationId xmlns:a16="http://schemas.microsoft.com/office/drawing/2014/main" id="{9546D77B-55CC-4937-838D-D221C9D74F55}"/>
                    </a:ext>
                  </a:extLst>
                </p:cNvPr>
                <p:cNvSpPr txBox="1"/>
                <p:nvPr/>
              </p:nvSpPr>
              <p:spPr>
                <a:xfrm>
                  <a:off x="8952636" y="4785130"/>
                  <a:ext cx="2474174" cy="5842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3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func>
                              <m:funcPr>
                                <m:ctrlPr>
                                  <a:rPr lang="en-US" sz="130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30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sz="13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</m:func>
                          </m:e>
                          <m:sub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13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1300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3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  <m:r>
                          <a:rPr lang="en-US" sz="1300" i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3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13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 i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30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num>
                                  <m:den>
                                    <m:r>
                                      <a:rPr lang="en-US" sz="1300" i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13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1300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300" b="0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  <m:r>
                          <a:rPr lang="en-US" sz="1300" i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sz="13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300" i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func>
                      </m:oMath>
                    </m:oMathPara>
                  </a14:m>
                  <a:endParaRPr lang="en-US" sz="1300" dirty="0"/>
                </a:p>
              </p:txBody>
            </p:sp>
          </mc:Choice>
          <mc:Fallback xmlns="">
            <p:sp>
              <p:nvSpPr>
                <p:cNvPr id="76" name="ZoneTexte 75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9546D77B-55CC-4937-838D-D221C9D74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52636" y="4785130"/>
                  <a:ext cx="2474174" cy="584263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ZoneTexte 76">
                  <a:extLst>
                    <a:ext uri="{FF2B5EF4-FFF2-40B4-BE49-F238E27FC236}">
                      <a16:creationId xmlns:a16="http://schemas.microsoft.com/office/drawing/2014/main" id="{36F8863B-8C13-4372-8E9D-958A4C6A9382}"/>
                    </a:ext>
                  </a:extLst>
                </p:cNvPr>
                <p:cNvSpPr txBox="1"/>
                <p:nvPr/>
              </p:nvSpPr>
              <p:spPr>
                <a:xfrm>
                  <a:off x="9311607" y="4277198"/>
                  <a:ext cx="1473767" cy="479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300" smtClean="0">
                            <a:latin typeface="Cambria Math" panose="02040503050406030204" pitchFamily="18" charset="0"/>
                          </a:rPr>
                          <m:t> </m:t>
                        </m:r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1300" i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3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3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3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sz="13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13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3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130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3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130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300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</m:d>
                          </m:num>
                          <m:den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𝑅𝑇</m:t>
                            </m:r>
                          </m:den>
                        </m:f>
                      </m:oMath>
                    </m:oMathPara>
                  </a14:m>
                  <a:endParaRPr lang="en-US" sz="1300" dirty="0"/>
                </a:p>
              </p:txBody>
            </p:sp>
          </mc:Choice>
          <mc:Fallback xmlns="">
            <p:sp>
              <p:nvSpPr>
                <p:cNvPr id="77" name="ZoneTexte 76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36F8863B-8C13-4372-8E9D-958A4C6A93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1607" y="4277198"/>
                  <a:ext cx="1473767" cy="479298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id="{26C008B6-4675-477F-97B8-1C37881430CE}"/>
                  </a:ext>
                </a:extLst>
              </p:cNvPr>
              <p:cNvSpPr txBox="1"/>
              <p:nvPr/>
            </p:nvSpPr>
            <p:spPr>
              <a:xfrm>
                <a:off x="9568274" y="2986952"/>
                <a:ext cx="451277" cy="3637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6C008B6-4675-477F-97B8-1C3788143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8274" y="2986952"/>
                <a:ext cx="451277" cy="363754"/>
              </a:xfrm>
              <a:prstGeom prst="rect">
                <a:avLst/>
              </a:prstGeom>
              <a:blipFill rotWithShape="1">
                <a:blip r:embed="rId5"/>
                <a:stretch>
                  <a:fillRect r="-25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Groupe 78">
            <a:extLst>
              <a:ext uri="{FF2B5EF4-FFF2-40B4-BE49-F238E27FC236}">
                <a16:creationId xmlns:a16="http://schemas.microsoft.com/office/drawing/2014/main" id="{CEC4D8EB-1B6E-48F5-9386-3A75DA53395D}"/>
              </a:ext>
            </a:extLst>
          </p:cNvPr>
          <p:cNvGrpSpPr/>
          <p:nvPr/>
        </p:nvGrpSpPr>
        <p:grpSpPr>
          <a:xfrm>
            <a:off x="114349" y="2134806"/>
            <a:ext cx="11969354" cy="2148721"/>
            <a:chOff x="111321" y="1267077"/>
            <a:chExt cx="11969354" cy="21487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ZoneTexte 79">
                  <a:extLst>
                    <a:ext uri="{FF2B5EF4-FFF2-40B4-BE49-F238E27FC236}">
                      <a16:creationId xmlns:a16="http://schemas.microsoft.com/office/drawing/2014/main" id="{DBB02F76-D0D1-45AA-8351-BC8E787794B2}"/>
                    </a:ext>
                  </a:extLst>
                </p:cNvPr>
                <p:cNvSpPr txBox="1"/>
                <p:nvPr/>
              </p:nvSpPr>
              <p:spPr>
                <a:xfrm>
                  <a:off x="11690236" y="2039247"/>
                  <a:ext cx="350194" cy="1169551"/>
                </a:xfrm>
                <a:prstGeom prst="rect">
                  <a:avLst/>
                </a:prstGeom>
                <a:noFill/>
                <a:ln w="28575">
                  <a:solidFill>
                    <a:schemeClr val="accent3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  <a:p>
                  <a:endParaRPr lang="en-US" sz="14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  <a:p>
                  <a:pPr algn="ctr"/>
                  <a:endParaRPr lang="en-US" sz="14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8" name="ZoneTexte 97">
                  <a:extLst>
                    <a:ext uri="{FF2B5EF4-FFF2-40B4-BE49-F238E27FC236}">
                      <a16:creationId xmlns:a16="http://schemas.microsoft.com/office/drawing/2014/main" id="{DBB02F76-D0D1-45AA-8351-BC8E787794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90236" y="2039247"/>
                  <a:ext cx="350194" cy="116955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28575">
                  <a:solidFill>
                    <a:schemeClr val="accent3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1" name="Connecteur droit avec flèche 80">
              <a:extLst>
                <a:ext uri="{FF2B5EF4-FFF2-40B4-BE49-F238E27FC236}">
                  <a16:creationId xmlns:a16="http://schemas.microsoft.com/office/drawing/2014/main" id="{24B5AC7B-A495-4EBA-88C9-A434AF847C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45434" y="1779986"/>
              <a:ext cx="14338" cy="83465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Connecteur droit avec flèche 81">
              <a:extLst>
                <a:ext uri="{FF2B5EF4-FFF2-40B4-BE49-F238E27FC236}">
                  <a16:creationId xmlns:a16="http://schemas.microsoft.com/office/drawing/2014/main" id="{151F8D5B-2BB9-4003-849C-28B8911D0705}"/>
                </a:ext>
              </a:extLst>
            </p:cNvPr>
            <p:cNvCxnSpPr>
              <a:cxnSpLocks/>
              <a:stCxn id="85" idx="3"/>
              <a:endCxn id="120" idx="1"/>
            </p:cNvCxnSpPr>
            <p:nvPr/>
          </p:nvCxnSpPr>
          <p:spPr>
            <a:xfrm>
              <a:off x="3257076" y="2618094"/>
              <a:ext cx="254514" cy="79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Connecteur droit avec flèche 82">
              <a:extLst>
                <a:ext uri="{FF2B5EF4-FFF2-40B4-BE49-F238E27FC236}">
                  <a16:creationId xmlns:a16="http://schemas.microsoft.com/office/drawing/2014/main" id="{2B180A06-0F20-4E68-901F-085B84742660}"/>
                </a:ext>
              </a:extLst>
            </p:cNvPr>
            <p:cNvCxnSpPr>
              <a:cxnSpLocks/>
              <a:stCxn id="100" idx="3"/>
              <a:endCxn id="94" idx="1"/>
            </p:cNvCxnSpPr>
            <p:nvPr/>
          </p:nvCxnSpPr>
          <p:spPr>
            <a:xfrm flipV="1">
              <a:off x="389004" y="2617907"/>
              <a:ext cx="255762" cy="18646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84" name="Groupe 83">
              <a:extLst>
                <a:ext uri="{FF2B5EF4-FFF2-40B4-BE49-F238E27FC236}">
                  <a16:creationId xmlns:a16="http://schemas.microsoft.com/office/drawing/2014/main" id="{D986E47C-EB06-4829-B3F5-666A7CB1F50B}"/>
                </a:ext>
              </a:extLst>
            </p:cNvPr>
            <p:cNvGrpSpPr/>
            <p:nvPr/>
          </p:nvGrpSpPr>
          <p:grpSpPr>
            <a:xfrm>
              <a:off x="111321" y="1957867"/>
              <a:ext cx="280756" cy="1457931"/>
              <a:chOff x="645279" y="3281732"/>
              <a:chExt cx="280756" cy="1457931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079A50E0-9C9F-463F-AEC8-582D6DB72451}"/>
                  </a:ext>
                </a:extLst>
              </p:cNvPr>
              <p:cNvSpPr/>
              <p:nvPr/>
            </p:nvSpPr>
            <p:spPr>
              <a:xfrm>
                <a:off x="645279" y="3281732"/>
                <a:ext cx="280756" cy="224474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/>
                  <a:t>P</a:t>
                </a: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5E9DAE04-9C99-488A-B06C-D4483644D865}"/>
                  </a:ext>
                </a:extLst>
              </p:cNvPr>
              <p:cNvSpPr/>
              <p:nvPr/>
            </p:nvSpPr>
            <p:spPr>
              <a:xfrm>
                <a:off x="645279" y="3645867"/>
                <a:ext cx="277683" cy="224474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/>
                  <a:t>T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Rectangle 99">
                    <a:extLst>
                      <a:ext uri="{FF2B5EF4-FFF2-40B4-BE49-F238E27FC236}">
                        <a16:creationId xmlns:a16="http://schemas.microsoft.com/office/drawing/2014/main" id="{0C7841CF-3683-44C9-A41E-D184D7C441CC}"/>
                      </a:ext>
                    </a:extLst>
                  </p:cNvPr>
                  <p:cNvSpPr/>
                  <p:nvPr/>
                </p:nvSpPr>
                <p:spPr>
                  <a:xfrm>
                    <a:off x="645279" y="4006342"/>
                    <a:ext cx="277683" cy="243789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1400" b="1" dirty="0"/>
                  </a:p>
                </p:txBody>
              </p:sp>
            </mc:Choice>
            <mc:Fallback xmlns="">
              <p:sp>
                <p:nvSpPr>
                  <p:cNvPr id="70" name="Rectangle 69">
                    <a:extLst>
                      <a:ext uri="{FF2B5EF4-FFF2-40B4-BE49-F238E27FC236}">
                        <a16:creationId xmlns:a16="http://schemas.microsoft.com/office/drawing/2014/main" id="{DFBA6D59-C6C2-4213-A60F-56F3038DA5D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5279" y="4006342"/>
                    <a:ext cx="277683" cy="243789"/>
                  </a:xfrm>
                  <a:prstGeom prst="rect">
                    <a:avLst/>
                  </a:prstGeom>
                  <a:blipFill>
                    <a:blip r:embed="rId102"/>
                    <a:stretch>
                      <a:fillRect l="-4167" b="-476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Rectangle 100">
                    <a:extLst>
                      <a:ext uri="{FF2B5EF4-FFF2-40B4-BE49-F238E27FC236}">
                        <a16:creationId xmlns:a16="http://schemas.microsoft.com/office/drawing/2014/main" id="{A56F4F50-0C20-43A1-A149-756EB9AAA732}"/>
                      </a:ext>
                    </a:extLst>
                  </p:cNvPr>
                  <p:cNvSpPr/>
                  <p:nvPr/>
                </p:nvSpPr>
                <p:spPr>
                  <a:xfrm>
                    <a:off x="645279" y="4515189"/>
                    <a:ext cx="277683" cy="224474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b>
                          </m:sSub>
                        </m:oMath>
                      </m:oMathPara>
                    </a14:m>
                    <a:endParaRPr lang="en-US" sz="1400" b="1" dirty="0"/>
                  </a:p>
                </p:txBody>
              </p:sp>
            </mc:Choice>
            <mc:Fallback xmlns="">
              <p:sp>
                <p:nvSpPr>
                  <p:cNvPr id="71" name="Rectangle 70">
                    <a:extLst>
                      <a:ext uri="{FF2B5EF4-FFF2-40B4-BE49-F238E27FC236}">
                        <a16:creationId xmlns:a16="http://schemas.microsoft.com/office/drawing/2014/main" id="{F3889F77-732E-46A1-8ACA-AB6DEF21143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5279" y="4515189"/>
                    <a:ext cx="277683" cy="224474"/>
                  </a:xfrm>
                  <a:prstGeom prst="rect">
                    <a:avLst/>
                  </a:prstGeom>
                  <a:blipFill>
                    <a:blip r:embed="rId103"/>
                    <a:stretch>
                      <a:fillRect l="-6250" b="-102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2" name="Groupe 101">
                <a:extLst>
                  <a:ext uri="{FF2B5EF4-FFF2-40B4-BE49-F238E27FC236}">
                    <a16:creationId xmlns:a16="http://schemas.microsoft.com/office/drawing/2014/main" id="{A4FCDA78-E9FB-4EB0-A191-75263299423F}"/>
                  </a:ext>
                </a:extLst>
              </p:cNvPr>
              <p:cNvGrpSpPr/>
              <p:nvPr/>
            </p:nvGrpSpPr>
            <p:grpSpPr>
              <a:xfrm>
                <a:off x="768218" y="4289390"/>
                <a:ext cx="45753" cy="186545"/>
                <a:chOff x="6131209" y="2493156"/>
                <a:chExt cx="71784" cy="327300"/>
              </a:xfrm>
            </p:grpSpPr>
            <p:sp>
              <p:nvSpPr>
                <p:cNvPr id="103" name="Ellipse 102">
                  <a:extLst>
                    <a:ext uri="{FF2B5EF4-FFF2-40B4-BE49-F238E27FC236}">
                      <a16:creationId xmlns:a16="http://schemas.microsoft.com/office/drawing/2014/main" id="{3427F01C-7611-489A-A867-474509D5AD16}"/>
                    </a:ext>
                  </a:extLst>
                </p:cNvPr>
                <p:cNvSpPr/>
                <p:nvPr/>
              </p:nvSpPr>
              <p:spPr>
                <a:xfrm>
                  <a:off x="6131209" y="2740856"/>
                  <a:ext cx="71729" cy="79600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04" name="Ellipse 103">
                  <a:extLst>
                    <a:ext uri="{FF2B5EF4-FFF2-40B4-BE49-F238E27FC236}">
                      <a16:creationId xmlns:a16="http://schemas.microsoft.com/office/drawing/2014/main" id="{1BF2F59C-03DA-4612-AEA0-2AA324A1EF46}"/>
                    </a:ext>
                  </a:extLst>
                </p:cNvPr>
                <p:cNvSpPr/>
                <p:nvPr/>
              </p:nvSpPr>
              <p:spPr>
                <a:xfrm>
                  <a:off x="6131264" y="2619402"/>
                  <a:ext cx="71729" cy="79600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05" name="Ellipse 104">
                  <a:extLst>
                    <a:ext uri="{FF2B5EF4-FFF2-40B4-BE49-F238E27FC236}">
                      <a16:creationId xmlns:a16="http://schemas.microsoft.com/office/drawing/2014/main" id="{3B24303C-AFAF-4762-9056-CF804D1070D5}"/>
                    </a:ext>
                  </a:extLst>
                </p:cNvPr>
                <p:cNvSpPr/>
                <p:nvPr/>
              </p:nvSpPr>
              <p:spPr>
                <a:xfrm>
                  <a:off x="6131264" y="2493156"/>
                  <a:ext cx="71729" cy="79600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</p:grpSp>
        <p:sp>
          <p:nvSpPr>
            <p:cNvPr id="85" name="Organigramme : Décision 84">
              <a:extLst>
                <a:ext uri="{FF2B5EF4-FFF2-40B4-BE49-F238E27FC236}">
                  <a16:creationId xmlns:a16="http://schemas.microsoft.com/office/drawing/2014/main" id="{3D84F583-5B8B-41B0-BDB5-77F065115126}"/>
                </a:ext>
              </a:extLst>
            </p:cNvPr>
            <p:cNvSpPr/>
            <p:nvPr/>
          </p:nvSpPr>
          <p:spPr>
            <a:xfrm>
              <a:off x="1760873" y="2294730"/>
              <a:ext cx="1496203" cy="646727"/>
            </a:xfrm>
            <a:prstGeom prst="flowChartDecision">
              <a:avLst/>
            </a:prstGeom>
            <a:ln w="38100">
              <a:solidFill>
                <a:schemeClr val="accent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400" b="1" dirty="0"/>
                <a:t>Single phase ?</a:t>
              </a:r>
              <a:endParaRPr lang="en-US" sz="1600" b="1" dirty="0"/>
            </a:p>
          </p:txBody>
        </p:sp>
        <p:sp>
          <p:nvSpPr>
            <p:cNvPr id="86" name="ZoneTexte 85">
              <a:extLst>
                <a:ext uri="{FF2B5EF4-FFF2-40B4-BE49-F238E27FC236}">
                  <a16:creationId xmlns:a16="http://schemas.microsoft.com/office/drawing/2014/main" id="{A5440D77-F438-4734-8512-DA733AD5B2DE}"/>
                </a:ext>
              </a:extLst>
            </p:cNvPr>
            <p:cNvSpPr txBox="1"/>
            <p:nvPr/>
          </p:nvSpPr>
          <p:spPr>
            <a:xfrm>
              <a:off x="2732207" y="1889535"/>
              <a:ext cx="4573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</a:rPr>
                <a:t>Yes</a:t>
              </a:r>
            </a:p>
          </p:txBody>
        </p:sp>
        <p:sp>
          <p:nvSpPr>
            <p:cNvPr id="87" name="ZoneTexte 86">
              <a:extLst>
                <a:ext uri="{FF2B5EF4-FFF2-40B4-BE49-F238E27FC236}">
                  <a16:creationId xmlns:a16="http://schemas.microsoft.com/office/drawing/2014/main" id="{62D0F6B2-3D1D-4A4B-984A-4ABEE95EC84B}"/>
                </a:ext>
              </a:extLst>
            </p:cNvPr>
            <p:cNvSpPr txBox="1"/>
            <p:nvPr/>
          </p:nvSpPr>
          <p:spPr>
            <a:xfrm>
              <a:off x="3149733" y="2643279"/>
              <a:ext cx="4573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</a:rPr>
                <a:t>No</a:t>
              </a:r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1202663F-A238-4868-883B-05B1EF95165B}"/>
                </a:ext>
              </a:extLst>
            </p:cNvPr>
            <p:cNvCxnSpPr>
              <a:cxnSpLocks/>
              <a:endCxn id="85" idx="0"/>
            </p:cNvCxnSpPr>
            <p:nvPr/>
          </p:nvCxnSpPr>
          <p:spPr>
            <a:xfrm>
              <a:off x="2508975" y="1772949"/>
              <a:ext cx="0" cy="521781"/>
            </a:xfrm>
            <a:prstGeom prst="line">
              <a:avLst/>
            </a:prstGeom>
            <a:ln w="190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D76E216B-4204-4B68-9B29-8759FD6A0560}"/>
                </a:ext>
              </a:extLst>
            </p:cNvPr>
            <p:cNvCxnSpPr>
              <a:cxnSpLocks/>
            </p:cNvCxnSpPr>
            <p:nvPr/>
          </p:nvCxnSpPr>
          <p:spPr>
            <a:xfrm>
              <a:off x="2508975" y="1772949"/>
              <a:ext cx="9050797" cy="605"/>
            </a:xfrm>
            <a:prstGeom prst="line">
              <a:avLst/>
            </a:prstGeom>
            <a:ln w="190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Connecteur droit avec flèche 89">
              <a:extLst>
                <a:ext uri="{FF2B5EF4-FFF2-40B4-BE49-F238E27FC236}">
                  <a16:creationId xmlns:a16="http://schemas.microsoft.com/office/drawing/2014/main" id="{1E021CE9-BF7E-4826-B183-0B2609382C91}"/>
                </a:ext>
              </a:extLst>
            </p:cNvPr>
            <p:cNvCxnSpPr>
              <a:cxnSpLocks/>
              <a:stCxn id="94" idx="3"/>
              <a:endCxn id="85" idx="1"/>
            </p:cNvCxnSpPr>
            <p:nvPr/>
          </p:nvCxnSpPr>
          <p:spPr>
            <a:xfrm>
              <a:off x="1535960" y="2617907"/>
              <a:ext cx="224913" cy="18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Connecteur droit avec flèche 90">
              <a:extLst>
                <a:ext uri="{FF2B5EF4-FFF2-40B4-BE49-F238E27FC236}">
                  <a16:creationId xmlns:a16="http://schemas.microsoft.com/office/drawing/2014/main" id="{5D95E457-D404-4A92-A8A2-896B76A81942}"/>
                </a:ext>
              </a:extLst>
            </p:cNvPr>
            <p:cNvCxnSpPr>
              <a:cxnSpLocks/>
              <a:stCxn id="98" idx="3"/>
              <a:endCxn id="94" idx="1"/>
            </p:cNvCxnSpPr>
            <p:nvPr/>
          </p:nvCxnSpPr>
          <p:spPr>
            <a:xfrm>
              <a:off x="392077" y="2070104"/>
              <a:ext cx="252689" cy="54780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Connecteur droit avec flèche 91">
              <a:extLst>
                <a:ext uri="{FF2B5EF4-FFF2-40B4-BE49-F238E27FC236}">
                  <a16:creationId xmlns:a16="http://schemas.microsoft.com/office/drawing/2014/main" id="{138EBD9D-BB5F-41A2-9F92-35420E9071C3}"/>
                </a:ext>
              </a:extLst>
            </p:cNvPr>
            <p:cNvCxnSpPr>
              <a:cxnSpLocks/>
              <a:stCxn id="99" idx="3"/>
              <a:endCxn id="94" idx="1"/>
            </p:cNvCxnSpPr>
            <p:nvPr/>
          </p:nvCxnSpPr>
          <p:spPr>
            <a:xfrm>
              <a:off x="389004" y="2434239"/>
              <a:ext cx="255762" cy="18366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Connecteur droit avec flèche 92">
              <a:extLst>
                <a:ext uri="{FF2B5EF4-FFF2-40B4-BE49-F238E27FC236}">
                  <a16:creationId xmlns:a16="http://schemas.microsoft.com/office/drawing/2014/main" id="{6800B0BC-B268-434D-8525-0BD0EA141C9C}"/>
                </a:ext>
              </a:extLst>
            </p:cNvPr>
            <p:cNvCxnSpPr>
              <a:cxnSpLocks/>
              <a:stCxn id="101" idx="3"/>
              <a:endCxn id="94" idx="1"/>
            </p:cNvCxnSpPr>
            <p:nvPr/>
          </p:nvCxnSpPr>
          <p:spPr>
            <a:xfrm flipV="1">
              <a:off x="389004" y="2617907"/>
              <a:ext cx="255762" cy="68565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4" name="Rectangle : coins arrondis 91">
              <a:extLst>
                <a:ext uri="{FF2B5EF4-FFF2-40B4-BE49-F238E27FC236}">
                  <a16:creationId xmlns:a16="http://schemas.microsoft.com/office/drawing/2014/main" id="{CDF803BC-E8B3-41D6-AFB7-0ECC9CF596E4}"/>
                </a:ext>
              </a:extLst>
            </p:cNvPr>
            <p:cNvSpPr/>
            <p:nvPr/>
          </p:nvSpPr>
          <p:spPr>
            <a:xfrm>
              <a:off x="644766" y="2270288"/>
              <a:ext cx="891194" cy="69523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Phase stability analysis</a:t>
              </a:r>
            </a:p>
          </p:txBody>
        </p:sp>
        <p:sp>
          <p:nvSpPr>
            <p:cNvPr id="95" name="ZoneTexte 94">
              <a:extLst>
                <a:ext uri="{FF2B5EF4-FFF2-40B4-BE49-F238E27FC236}">
                  <a16:creationId xmlns:a16="http://schemas.microsoft.com/office/drawing/2014/main" id="{8292F9B3-D6C3-4C77-90A3-041CA9647E70}"/>
                </a:ext>
              </a:extLst>
            </p:cNvPr>
            <p:cNvSpPr txBox="1"/>
            <p:nvPr/>
          </p:nvSpPr>
          <p:spPr>
            <a:xfrm>
              <a:off x="351055" y="1267077"/>
              <a:ext cx="255111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i="1" dirty="0"/>
                <a:t>Phase condition determination</a:t>
              </a:r>
            </a:p>
          </p:txBody>
        </p:sp>
        <p:sp>
          <p:nvSpPr>
            <p:cNvPr id="96" name="ZoneTexte 95">
              <a:extLst>
                <a:ext uri="{FF2B5EF4-FFF2-40B4-BE49-F238E27FC236}">
                  <a16:creationId xmlns:a16="http://schemas.microsoft.com/office/drawing/2014/main" id="{8FC7EAB6-A6D9-45CD-AFDE-7F5B78AB0AF8}"/>
                </a:ext>
              </a:extLst>
            </p:cNvPr>
            <p:cNvSpPr txBox="1"/>
            <p:nvPr/>
          </p:nvSpPr>
          <p:spPr>
            <a:xfrm>
              <a:off x="11326345" y="1276735"/>
              <a:ext cx="754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i="1" dirty="0"/>
                <a:t>Output</a:t>
              </a:r>
            </a:p>
          </p:txBody>
        </p:sp>
        <p:cxnSp>
          <p:nvCxnSpPr>
            <p:cNvPr id="97" name="Connecteur droit avec flèche 96">
              <a:extLst>
                <a:ext uri="{FF2B5EF4-FFF2-40B4-BE49-F238E27FC236}">
                  <a16:creationId xmlns:a16="http://schemas.microsoft.com/office/drawing/2014/main" id="{E9261A1E-FFD2-4C6F-8558-26F3E1AA157D}"/>
                </a:ext>
              </a:extLst>
            </p:cNvPr>
            <p:cNvCxnSpPr>
              <a:cxnSpLocks/>
              <a:stCxn id="110" idx="3"/>
              <a:endCxn id="80" idx="1"/>
            </p:cNvCxnSpPr>
            <p:nvPr/>
          </p:nvCxnSpPr>
          <p:spPr>
            <a:xfrm>
              <a:off x="11435135" y="2624023"/>
              <a:ext cx="255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6" name="Groupe 105">
            <a:extLst>
              <a:ext uri="{FF2B5EF4-FFF2-40B4-BE49-F238E27FC236}">
                <a16:creationId xmlns:a16="http://schemas.microsoft.com/office/drawing/2014/main" id="{46088FB5-9D43-4BBC-A95E-9CC4AE247A26}"/>
              </a:ext>
            </a:extLst>
          </p:cNvPr>
          <p:cNvGrpSpPr/>
          <p:nvPr/>
        </p:nvGrpSpPr>
        <p:grpSpPr>
          <a:xfrm>
            <a:off x="5497986" y="3021819"/>
            <a:ext cx="6279142" cy="1274910"/>
            <a:chOff x="5494958" y="2154090"/>
            <a:chExt cx="6279142" cy="1274910"/>
          </a:xfrm>
        </p:grpSpPr>
        <p:cxnSp>
          <p:nvCxnSpPr>
            <p:cNvPr id="107" name="Connecteur droit 106">
              <a:extLst>
                <a:ext uri="{FF2B5EF4-FFF2-40B4-BE49-F238E27FC236}">
                  <a16:creationId xmlns:a16="http://schemas.microsoft.com/office/drawing/2014/main" id="{84705463-B550-4175-AEAA-DF4FFAAE3E61}"/>
                </a:ext>
              </a:extLst>
            </p:cNvPr>
            <p:cNvCxnSpPr>
              <a:cxnSpLocks/>
              <a:stCxn id="110" idx="2"/>
            </p:cNvCxnSpPr>
            <p:nvPr/>
          </p:nvCxnSpPr>
          <p:spPr>
            <a:xfrm>
              <a:off x="10593329" y="3093955"/>
              <a:ext cx="0" cy="328532"/>
            </a:xfrm>
            <a:prstGeom prst="line">
              <a:avLst/>
            </a:prstGeom>
            <a:ln w="190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08" name="Groupe 107">
              <a:extLst>
                <a:ext uri="{FF2B5EF4-FFF2-40B4-BE49-F238E27FC236}">
                  <a16:creationId xmlns:a16="http://schemas.microsoft.com/office/drawing/2014/main" id="{BC0A4D94-207C-4770-8948-1979A07D6588}"/>
                </a:ext>
              </a:extLst>
            </p:cNvPr>
            <p:cNvGrpSpPr/>
            <p:nvPr/>
          </p:nvGrpSpPr>
          <p:grpSpPr>
            <a:xfrm>
              <a:off x="5494958" y="2154090"/>
              <a:ext cx="6279142" cy="1274910"/>
              <a:chOff x="5494958" y="2154090"/>
              <a:chExt cx="6279142" cy="127491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ZoneTexte 108">
                    <a:extLst>
                      <a:ext uri="{FF2B5EF4-FFF2-40B4-BE49-F238E27FC236}">
                        <a16:creationId xmlns:a16="http://schemas.microsoft.com/office/drawing/2014/main" id="{1B6AF480-52C1-4B33-90D3-93877B06F3BE}"/>
                      </a:ext>
                    </a:extLst>
                  </p:cNvPr>
                  <p:cNvSpPr txBox="1"/>
                  <p:nvPr/>
                </p:nvSpPr>
                <p:spPr>
                  <a:xfrm>
                    <a:off x="5548943" y="3152001"/>
                    <a:ext cx="921332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en-US" sz="1200" b="1" dirty="0"/>
                  </a:p>
                </p:txBody>
              </p:sp>
            </mc:Choice>
            <mc:Fallback xmlns="">
              <p:sp>
                <p:nvSpPr>
                  <p:cNvPr id="120" name="ZoneTexte 119">
                    <a:extLst>
                      <a:ext uri="{FF2B5EF4-FFF2-40B4-BE49-F238E27FC236}">
                        <a16:creationId xmlns:a16="http://schemas.microsoft.com/office/drawing/2014/main" id="{1B6AF480-52C1-4B33-90D3-93877B06F3B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48943" y="3152001"/>
                    <a:ext cx="921332" cy="276999"/>
                  </a:xfrm>
                  <a:prstGeom prst="rect">
                    <a:avLst/>
                  </a:prstGeom>
                  <a:blipFill>
                    <a:blip r:embed="rId10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Organigramme : Décision 109">
                    <a:extLst>
                      <a:ext uri="{FF2B5EF4-FFF2-40B4-BE49-F238E27FC236}">
                        <a16:creationId xmlns:a16="http://schemas.microsoft.com/office/drawing/2014/main" id="{709289B4-FB11-4AE1-97B1-12E772D0F5DD}"/>
                      </a:ext>
                    </a:extLst>
                  </p:cNvPr>
                  <p:cNvSpPr/>
                  <p:nvPr/>
                </p:nvSpPr>
                <p:spPr>
                  <a:xfrm>
                    <a:off x="9751522" y="2154090"/>
                    <a:ext cx="1683613" cy="939865"/>
                  </a:xfrm>
                  <a:prstGeom prst="flowChartDecision">
                    <a:avLst/>
                  </a:prstGeom>
                  <a:ln w="38100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300" b="1" dirty="0"/>
                      <a:t>Converge on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3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  <a:r>
                      <a:rPr lang="en-US" sz="1300" b="1" dirty="0"/>
                      <a:t>?</a:t>
                    </a:r>
                  </a:p>
                </p:txBody>
              </p:sp>
            </mc:Choice>
            <mc:Fallback xmlns="">
              <p:sp>
                <p:nvSpPr>
                  <p:cNvPr id="103" name="Organigramme : Décision 102">
                    <a:extLst>
                      <a:ext uri="{FF2B5EF4-FFF2-40B4-BE49-F238E27FC236}">
                        <a16:creationId xmlns:a16="http://schemas.microsoft.com/office/drawing/2014/main" id="{709289B4-FB11-4AE1-97B1-12E772D0F5D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51522" y="2154090"/>
                    <a:ext cx="1683613" cy="939865"/>
                  </a:xfrm>
                  <a:prstGeom prst="flowChartDecision">
                    <a:avLst/>
                  </a:prstGeom>
                  <a:blipFill>
                    <a:blip r:embed="rId105"/>
                    <a:stretch>
                      <a:fillRect/>
                    </a:stretch>
                  </a:blipFill>
                  <a:ln w="38100">
                    <a:solidFill>
                      <a:schemeClr val="accent3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1" name="Connecteur droit 110">
                <a:extLst>
                  <a:ext uri="{FF2B5EF4-FFF2-40B4-BE49-F238E27FC236}">
                    <a16:creationId xmlns:a16="http://schemas.microsoft.com/office/drawing/2014/main" id="{F32CB856-A6C5-4134-9707-9720503A23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7986" y="3415798"/>
                <a:ext cx="5095343" cy="1"/>
              </a:xfrm>
              <a:prstGeom prst="line">
                <a:avLst/>
              </a:prstGeom>
              <a:ln w="1905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" name="Connecteur droit avec flèche 111">
                <a:extLst>
                  <a:ext uri="{FF2B5EF4-FFF2-40B4-BE49-F238E27FC236}">
                    <a16:creationId xmlns:a16="http://schemas.microsoft.com/office/drawing/2014/main" id="{96E6EDD9-D374-4E85-B091-4A4B0FA6B0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494958" y="2621152"/>
                <a:ext cx="3028" cy="80133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3" name="ZoneTexte 112">
                <a:extLst>
                  <a:ext uri="{FF2B5EF4-FFF2-40B4-BE49-F238E27FC236}">
                    <a16:creationId xmlns:a16="http://schemas.microsoft.com/office/drawing/2014/main" id="{D6653A9F-3F1D-4C62-9DC2-E644ECDB630E}"/>
                  </a:ext>
                </a:extLst>
              </p:cNvPr>
              <p:cNvSpPr txBox="1"/>
              <p:nvPr/>
            </p:nvSpPr>
            <p:spPr>
              <a:xfrm>
                <a:off x="10579364" y="3090305"/>
                <a:ext cx="457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C00000"/>
                    </a:solidFill>
                  </a:rPr>
                  <a:t>No</a:t>
                </a:r>
              </a:p>
            </p:txBody>
          </p:sp>
          <p:sp>
            <p:nvSpPr>
              <p:cNvPr id="114" name="ZoneTexte 113">
                <a:extLst>
                  <a:ext uri="{FF2B5EF4-FFF2-40B4-BE49-F238E27FC236}">
                    <a16:creationId xmlns:a16="http://schemas.microsoft.com/office/drawing/2014/main" id="{70BC593F-16DD-4EF0-8277-04BD5EA0D2FA}"/>
                  </a:ext>
                </a:extLst>
              </p:cNvPr>
              <p:cNvSpPr txBox="1"/>
              <p:nvPr/>
            </p:nvSpPr>
            <p:spPr>
              <a:xfrm>
                <a:off x="11316767" y="2648297"/>
                <a:ext cx="457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C00000"/>
                    </a:solidFill>
                  </a:rPr>
                  <a:t>Yes</a:t>
                </a:r>
              </a:p>
            </p:txBody>
          </p:sp>
        </p:grpSp>
      </p:grp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F9378E36-8143-4F29-A41F-90F63993D41E}"/>
              </a:ext>
            </a:extLst>
          </p:cNvPr>
          <p:cNvCxnSpPr>
            <a:cxnSpLocks/>
          </p:cNvCxnSpPr>
          <p:nvPr/>
        </p:nvCxnSpPr>
        <p:spPr>
          <a:xfrm>
            <a:off x="5516228" y="1991081"/>
            <a:ext cx="0" cy="587623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Organigramme : Alternative 119">
                <a:extLst>
                  <a:ext uri="{FF2B5EF4-FFF2-40B4-BE49-F238E27FC236}">
                    <a16:creationId xmlns:a16="http://schemas.microsoft.com/office/drawing/2014/main" id="{D6572DC8-3E43-43E5-9145-B8EE59B1D736}"/>
                  </a:ext>
                </a:extLst>
              </p:cNvPr>
              <p:cNvSpPr/>
              <p:nvPr/>
            </p:nvSpPr>
            <p:spPr>
              <a:xfrm>
                <a:off x="3514618" y="3120693"/>
                <a:ext cx="1797092" cy="731839"/>
              </a:xfrm>
              <a:prstGeom prst="flowChartAlternateProcess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altLang="zh-CN" sz="1300" b="1" dirty="0"/>
                  <a:t>Initialize distribution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300" b="1" dirty="0"/>
                  <a:t> </a:t>
                </a:r>
                <a:r>
                  <a:rPr lang="en-US" altLang="zh-CN" sz="1300" b="1" dirty="0"/>
                  <a:t>via Wilson approximation</a:t>
                </a:r>
                <a:endParaRPr lang="en-US" sz="1300" b="1" dirty="0"/>
              </a:p>
            </p:txBody>
          </p:sp>
        </mc:Choice>
        <mc:Fallback xmlns="">
          <p:sp>
            <p:nvSpPr>
              <p:cNvPr id="120" name="Organigramme : Alternative 11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6572DC8-3E43-43E5-9145-B8EE59B1D7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4618" y="3120693"/>
                <a:ext cx="1797092" cy="731839"/>
              </a:xfrm>
              <a:prstGeom prst="flowChartAlternateProcess">
                <a:avLst/>
              </a:prstGeom>
              <a:blipFill rotWithShape="1">
                <a:blip r:embed="rId106"/>
                <a:stretch>
                  <a:fillRect b="-1587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1" name="Connecteur droit avec flèche 120">
            <a:extLst>
              <a:ext uri="{FF2B5EF4-FFF2-40B4-BE49-F238E27FC236}">
                <a16:creationId xmlns:a16="http://schemas.microsoft.com/office/drawing/2014/main" id="{D39C363E-9B57-48DD-AEC6-21F1681BCEF4}"/>
              </a:ext>
            </a:extLst>
          </p:cNvPr>
          <p:cNvCxnSpPr>
            <a:cxnSpLocks/>
            <a:stCxn id="120" idx="3"/>
            <a:endCxn id="135" idx="1"/>
          </p:cNvCxnSpPr>
          <p:nvPr/>
        </p:nvCxnSpPr>
        <p:spPr>
          <a:xfrm>
            <a:off x="5311710" y="3486613"/>
            <a:ext cx="316516" cy="22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2" name="ZoneTexte 121">
            <a:extLst>
              <a:ext uri="{FF2B5EF4-FFF2-40B4-BE49-F238E27FC236}">
                <a16:creationId xmlns:a16="http://schemas.microsoft.com/office/drawing/2014/main" id="{BC1234F3-AD64-4040-BFF9-EA5432679F0C}"/>
              </a:ext>
            </a:extLst>
          </p:cNvPr>
          <p:cNvSpPr txBox="1"/>
          <p:nvPr/>
        </p:nvSpPr>
        <p:spPr>
          <a:xfrm>
            <a:off x="3834388" y="2150194"/>
            <a:ext cx="1187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/>
              <a:t>Initialization</a:t>
            </a:r>
          </a:p>
        </p:txBody>
      </p: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ED677967-9C3B-4214-B987-3A6842FAD134}"/>
              </a:ext>
            </a:extLst>
          </p:cNvPr>
          <p:cNvCxnSpPr>
            <a:cxnSpLocks/>
          </p:cNvCxnSpPr>
          <p:nvPr/>
        </p:nvCxnSpPr>
        <p:spPr>
          <a:xfrm>
            <a:off x="3332920" y="1991081"/>
            <a:ext cx="0" cy="649597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24" name="Groupe 123">
            <a:extLst>
              <a:ext uri="{FF2B5EF4-FFF2-40B4-BE49-F238E27FC236}">
                <a16:creationId xmlns:a16="http://schemas.microsoft.com/office/drawing/2014/main" id="{CF916173-161A-4511-8031-13D9B965F79A}"/>
              </a:ext>
            </a:extLst>
          </p:cNvPr>
          <p:cNvGrpSpPr/>
          <p:nvPr/>
        </p:nvGrpSpPr>
        <p:grpSpPr>
          <a:xfrm>
            <a:off x="967367" y="5010295"/>
            <a:ext cx="3063196" cy="1042841"/>
            <a:chOff x="2929586" y="4060643"/>
            <a:chExt cx="3063196" cy="1042841"/>
          </a:xfrm>
        </p:grpSpPr>
        <p:sp>
          <p:nvSpPr>
            <p:cNvPr id="127" name="ZoneTexte 126">
              <a:extLst>
                <a:ext uri="{FF2B5EF4-FFF2-40B4-BE49-F238E27FC236}">
                  <a16:creationId xmlns:a16="http://schemas.microsoft.com/office/drawing/2014/main" id="{A99594A2-B6F6-4548-A949-C210B2628308}"/>
                </a:ext>
              </a:extLst>
            </p:cNvPr>
            <p:cNvSpPr txBox="1"/>
            <p:nvPr/>
          </p:nvSpPr>
          <p:spPr>
            <a:xfrm>
              <a:off x="3546880" y="4060643"/>
              <a:ext cx="22206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Wilson approximation</a:t>
              </a:r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ZoneTexte 127">
                  <a:extLst>
                    <a:ext uri="{FF2B5EF4-FFF2-40B4-BE49-F238E27FC236}">
                      <a16:creationId xmlns:a16="http://schemas.microsoft.com/office/drawing/2014/main" id="{566AF9A7-32A2-4F88-BE3A-712AFAA81DDA}"/>
                    </a:ext>
                  </a:extLst>
                </p:cNvPr>
                <p:cNvSpPr txBox="1"/>
                <p:nvPr/>
              </p:nvSpPr>
              <p:spPr>
                <a:xfrm>
                  <a:off x="2929586" y="4561669"/>
                  <a:ext cx="3063196" cy="5418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3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300" i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3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3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3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3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130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3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den>
                        </m:f>
                        <m:func>
                          <m:funcPr>
                            <m:ctrlPr>
                              <a:rPr lang="en-US" sz="13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300" i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3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300" i="0">
                                    <a:latin typeface="Cambria Math" panose="02040503050406030204" pitchFamily="18" charset="0"/>
                                  </a:rPr>
                                  <m:t>5.373</m:t>
                                </m:r>
                                <m:d>
                                  <m:dPr>
                                    <m:ctrlPr>
                                      <a:rPr lang="en-US" sz="13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300" i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sz="13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300" i="0"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en-US" sz="13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300" i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f>
                                      <m:fPr>
                                        <m:ctrlPr>
                                          <a:rPr lang="en-US" sz="13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  <m:r>
                                              <a:rPr lang="en-US" sz="1300" i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sz="1300" dirty="0"/>
                </a:p>
              </p:txBody>
            </p:sp>
          </mc:Choice>
          <mc:Fallback xmlns="">
            <p:sp>
              <p:nvSpPr>
                <p:cNvPr id="63" name="ZoneTexte 62">
                  <a:extLst>
                    <a:ext uri="{FF2B5EF4-FFF2-40B4-BE49-F238E27FC236}">
                      <a16:creationId xmlns:a16="http://schemas.microsoft.com/office/drawing/2014/main" id="{566AF9A7-32A2-4F88-BE3A-712AFAA81D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9586" y="4561669"/>
                  <a:ext cx="3063196" cy="541815"/>
                </a:xfrm>
                <a:prstGeom prst="rect">
                  <a:avLst/>
                </a:prstGeom>
                <a:blipFill>
                  <a:blip r:embed="rId10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ZoneTexte 124">
                <a:extLst>
                  <a:ext uri="{FF2B5EF4-FFF2-40B4-BE49-F238E27FC236}">
                    <a16:creationId xmlns:a16="http://schemas.microsoft.com/office/drawing/2014/main" id="{46A367EB-B450-4830-A29D-281B7CEE5EE5}"/>
                  </a:ext>
                </a:extLst>
              </p:cNvPr>
              <p:cNvSpPr txBox="1"/>
              <p:nvPr/>
            </p:nvSpPr>
            <p:spPr>
              <a:xfrm>
                <a:off x="5272347" y="2892950"/>
                <a:ext cx="451277" cy="3637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25" name="ZoneTexte 12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6A367EB-B450-4830-A29D-281B7CEE5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347" y="2892950"/>
                <a:ext cx="451277" cy="363754"/>
              </a:xfrm>
              <a:prstGeom prst="rect">
                <a:avLst/>
              </a:prstGeom>
              <a:blipFill rotWithShape="1">
                <a:blip r:embed="rId110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Connecteur droit 132">
            <a:extLst>
              <a:ext uri="{FF2B5EF4-FFF2-40B4-BE49-F238E27FC236}">
                <a16:creationId xmlns:a16="http://schemas.microsoft.com/office/drawing/2014/main" id="{DA8A72EB-8693-46CB-8120-597516CDB05F}"/>
              </a:ext>
            </a:extLst>
          </p:cNvPr>
          <p:cNvCxnSpPr/>
          <p:nvPr/>
        </p:nvCxnSpPr>
        <p:spPr>
          <a:xfrm>
            <a:off x="11202474" y="1991081"/>
            <a:ext cx="0" cy="587623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946FCA7-848F-4083-B479-59772F64A737}"/>
              </a:ext>
            </a:extLst>
          </p:cNvPr>
          <p:cNvSpPr txBox="1"/>
          <p:nvPr/>
        </p:nvSpPr>
        <p:spPr>
          <a:xfrm>
            <a:off x="7515544" y="2144464"/>
            <a:ext cx="19046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/>
              <a:t>Successive substitution</a:t>
            </a:r>
          </a:p>
        </p:txBody>
      </p:sp>
      <p:sp>
        <p:nvSpPr>
          <p:cNvPr id="135" name="Organigramme : Alternative 134">
            <a:extLst>
              <a:ext uri="{FF2B5EF4-FFF2-40B4-BE49-F238E27FC236}">
                <a16:creationId xmlns:a16="http://schemas.microsoft.com/office/drawing/2014/main" id="{2EB9F6C6-62D6-4D3E-982D-46DAB5A61518}"/>
              </a:ext>
            </a:extLst>
          </p:cNvPr>
          <p:cNvSpPr/>
          <p:nvPr/>
        </p:nvSpPr>
        <p:spPr>
          <a:xfrm>
            <a:off x="5628226" y="3134626"/>
            <a:ext cx="1347630" cy="708510"/>
          </a:xfrm>
          <a:prstGeom prst="flowChartAlternateProcess">
            <a:avLst/>
          </a:prstGeom>
          <a:ln w="381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altLang="zh-CN" sz="1400" b="1" dirty="0"/>
              <a:t>Solve Rachford-Rice equation</a:t>
            </a:r>
            <a:endParaRPr lang="en-US" sz="1400" b="1" dirty="0"/>
          </a:p>
        </p:txBody>
      </p:sp>
      <p:cxnSp>
        <p:nvCxnSpPr>
          <p:cNvPr id="136" name="Connecteur droit avec flèche 135">
            <a:extLst>
              <a:ext uri="{FF2B5EF4-FFF2-40B4-BE49-F238E27FC236}">
                <a16:creationId xmlns:a16="http://schemas.microsoft.com/office/drawing/2014/main" id="{475A88C1-BDEA-45A0-93A7-872B1D67E7BC}"/>
              </a:ext>
            </a:extLst>
          </p:cNvPr>
          <p:cNvCxnSpPr>
            <a:cxnSpLocks/>
            <a:stCxn id="135" idx="3"/>
          </p:cNvCxnSpPr>
          <p:nvPr/>
        </p:nvCxnSpPr>
        <p:spPr>
          <a:xfrm>
            <a:off x="6975856" y="3488881"/>
            <a:ext cx="377458" cy="28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ZoneTexte 137">
                <a:extLst>
                  <a:ext uri="{FF2B5EF4-FFF2-40B4-BE49-F238E27FC236}">
                    <a16:creationId xmlns:a16="http://schemas.microsoft.com/office/drawing/2014/main" id="{51FDB357-B717-4A9F-BA36-E2B587C41D02}"/>
                  </a:ext>
                </a:extLst>
              </p:cNvPr>
              <p:cNvSpPr txBox="1"/>
              <p:nvPr/>
            </p:nvSpPr>
            <p:spPr>
              <a:xfrm>
                <a:off x="6936493" y="2683316"/>
                <a:ext cx="451277" cy="635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38" name="ZoneTexte 13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1FDB357-B717-4A9F-BA36-E2B587C41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493" y="2683316"/>
                <a:ext cx="451277" cy="635174"/>
              </a:xfrm>
              <a:prstGeom prst="rect">
                <a:avLst/>
              </a:prstGeom>
              <a:blipFill rotWithShape="1">
                <a:blip r:embed="rId1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e 2"/>
          <p:cNvGrpSpPr/>
          <p:nvPr/>
        </p:nvGrpSpPr>
        <p:grpSpPr>
          <a:xfrm>
            <a:off x="4975436" y="4539440"/>
            <a:ext cx="2627136" cy="2314576"/>
            <a:chOff x="4638040" y="3907947"/>
            <a:chExt cx="2627136" cy="2314576"/>
          </a:xfrm>
        </p:grpSpPr>
        <p:grpSp>
          <p:nvGrpSpPr>
            <p:cNvPr id="137" name="Groupe 136">
              <a:extLst>
                <a:ext uri="{FF2B5EF4-FFF2-40B4-BE49-F238E27FC236}">
                  <a16:creationId xmlns:a16="http://schemas.microsoft.com/office/drawing/2014/main" id="{5A17415C-7E16-4AB1-B84E-0DBF1F944F2F}"/>
                </a:ext>
              </a:extLst>
            </p:cNvPr>
            <p:cNvGrpSpPr/>
            <p:nvPr/>
          </p:nvGrpSpPr>
          <p:grpSpPr>
            <a:xfrm>
              <a:off x="4638040" y="3907947"/>
              <a:ext cx="2627136" cy="2314576"/>
              <a:chOff x="5137526" y="4193133"/>
              <a:chExt cx="2627136" cy="2314576"/>
            </a:xfrm>
          </p:grpSpPr>
          <p:grpSp>
            <p:nvGrpSpPr>
              <p:cNvPr id="139" name="Groupe 138">
                <a:extLst>
                  <a:ext uri="{FF2B5EF4-FFF2-40B4-BE49-F238E27FC236}">
                    <a16:creationId xmlns:a16="http://schemas.microsoft.com/office/drawing/2014/main" id="{0FB5D408-0956-48EA-9D18-8FDE3262F599}"/>
                  </a:ext>
                </a:extLst>
              </p:cNvPr>
              <p:cNvGrpSpPr/>
              <p:nvPr/>
            </p:nvGrpSpPr>
            <p:grpSpPr>
              <a:xfrm>
                <a:off x="5137526" y="4193133"/>
                <a:ext cx="2627136" cy="954160"/>
                <a:chOff x="3209733" y="4270228"/>
                <a:chExt cx="2627136" cy="954160"/>
              </a:xfrm>
            </p:grpSpPr>
            <p:sp>
              <p:nvSpPr>
                <p:cNvPr id="142" name="ZoneTexte 141">
                  <a:extLst>
                    <a:ext uri="{FF2B5EF4-FFF2-40B4-BE49-F238E27FC236}">
                      <a16:creationId xmlns:a16="http://schemas.microsoft.com/office/drawing/2014/main" id="{2CCBB1A7-068E-487A-942A-0AD5FBEF5515}"/>
                    </a:ext>
                  </a:extLst>
                </p:cNvPr>
                <p:cNvSpPr txBox="1"/>
                <p:nvPr/>
              </p:nvSpPr>
              <p:spPr>
                <a:xfrm>
                  <a:off x="3553345" y="4270228"/>
                  <a:ext cx="222066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b="1" dirty="0"/>
                    <a:t>Rachford-Rice equation</a:t>
                  </a:r>
                  <a:endParaRPr lang="en-US" sz="1400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3" name="ZoneTexte 142">
                      <a:extLst>
                        <a:ext uri="{FF2B5EF4-FFF2-40B4-BE49-F238E27FC236}">
                          <a16:creationId xmlns:a16="http://schemas.microsoft.com/office/drawing/2014/main" id="{F400CAF3-AFF7-4DE4-937B-CB6994612D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09733" y="4565553"/>
                      <a:ext cx="2627136" cy="65883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13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ctrlPr>
                                  <a:rPr lang="en-US" sz="13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13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3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13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f>
                                  <m:f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d>
                                      <m:d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nary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oMath>
                        </m:oMathPara>
                      </a14:m>
                      <a:endParaRPr lang="en-US" sz="1300" dirty="0"/>
                    </a:p>
                  </p:txBody>
                </p:sp>
              </mc:Choice>
              <mc:Fallback xmlns="">
                <p:sp>
                  <p:nvSpPr>
                    <p:cNvPr id="143" name="ZoneTexte 142">
                      <a:extLst>
                        <a:ext uri="{FF2B5EF4-FFF2-40B4-BE49-F238E27FC236}">
                          <a16:creationId xmlns:a16="http://schemas.microsoft.com/office/drawing/2014/main" xmlns:a14="http://schemas.microsoft.com/office/drawing/2010/main" xmlns="" id="{F400CAF3-AFF7-4DE4-937B-CB6994612DD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09733" y="4565553"/>
                      <a:ext cx="2627136" cy="658835"/>
                    </a:xfrm>
                    <a:prstGeom prst="rect">
                      <a:avLst/>
                    </a:prstGeom>
                    <a:blipFill rotWithShape="1">
                      <a:blip r:embed="rId1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0" name="ZoneTexte 139">
                    <a:extLst>
                      <a:ext uri="{FF2B5EF4-FFF2-40B4-BE49-F238E27FC236}">
                        <a16:creationId xmlns:a16="http://schemas.microsoft.com/office/drawing/2014/main" id="{DB1BACCB-A3C4-4134-AB09-06D09091B403}"/>
                      </a:ext>
                    </a:extLst>
                  </p:cNvPr>
                  <p:cNvSpPr txBox="1"/>
                  <p:nvPr/>
                </p:nvSpPr>
                <p:spPr>
                  <a:xfrm>
                    <a:off x="5561360" y="5469478"/>
                    <a:ext cx="1627914" cy="46750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3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300" i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3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3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3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300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d>
                                <m:dPr>
                                  <m:ctrlPr>
                                    <a:rPr lang="en-US" sz="13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3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3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sz="13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300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13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3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n-US" sz="1300" dirty="0"/>
                  </a:p>
                </p:txBody>
              </p:sp>
            </mc:Choice>
            <mc:Fallback xmlns="">
              <p:sp>
                <p:nvSpPr>
                  <p:cNvPr id="65" name="ZoneTexte 64">
                    <a:extLst>
                      <a:ext uri="{FF2B5EF4-FFF2-40B4-BE49-F238E27FC236}">
                        <a16:creationId xmlns:a16="http://schemas.microsoft.com/office/drawing/2014/main" id="{DB1BACCB-A3C4-4134-AB09-06D09091B4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61360" y="5469478"/>
                    <a:ext cx="1627914" cy="467500"/>
                  </a:xfrm>
                  <a:prstGeom prst="rect">
                    <a:avLst/>
                  </a:prstGeom>
                  <a:blipFill>
                    <a:blip r:embed="rId1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1" name="ZoneTexte 140">
                    <a:extLst>
                      <a:ext uri="{FF2B5EF4-FFF2-40B4-BE49-F238E27FC236}">
                        <a16:creationId xmlns:a16="http://schemas.microsoft.com/office/drawing/2014/main" id="{B67E3F62-61F4-406E-80ED-0A8F8DC5B9C5}"/>
                      </a:ext>
                    </a:extLst>
                  </p:cNvPr>
                  <p:cNvSpPr txBox="1"/>
                  <p:nvPr/>
                </p:nvSpPr>
                <p:spPr>
                  <a:xfrm>
                    <a:off x="5514472" y="6006931"/>
                    <a:ext cx="1721690" cy="50077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3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300" i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3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3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3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3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3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300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d>
                                <m:dPr>
                                  <m:ctrlPr>
                                    <a:rPr lang="en-US" sz="13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3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3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sz="13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300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13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3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n-US" sz="1300" dirty="0"/>
                  </a:p>
                </p:txBody>
              </p:sp>
            </mc:Choice>
            <mc:Fallback xmlns="">
              <p:sp>
                <p:nvSpPr>
                  <p:cNvPr id="67" name="ZoneTexte 66">
                    <a:extLst>
                      <a:ext uri="{FF2B5EF4-FFF2-40B4-BE49-F238E27FC236}">
                        <a16:creationId xmlns:a16="http://schemas.microsoft.com/office/drawing/2014/main" id="{B67E3F62-61F4-406E-80ED-0A8F8DC5B9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14472" y="6006931"/>
                    <a:ext cx="1721690" cy="500778"/>
                  </a:xfrm>
                  <a:prstGeom prst="rect">
                    <a:avLst/>
                  </a:prstGeom>
                  <a:blipFill>
                    <a:blip r:embed="rId1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1" name="Flèche : bas 1">
              <a:extLst>
                <a:ext uri="{FF2B5EF4-FFF2-40B4-BE49-F238E27FC236}">
                  <a16:creationId xmlns:a16="http://schemas.microsoft.com/office/drawing/2014/main" id="{E96073B2-337A-45B9-A5C0-6A057B8896A4}"/>
                </a:ext>
              </a:extLst>
            </p:cNvPr>
            <p:cNvSpPr/>
            <p:nvPr/>
          </p:nvSpPr>
          <p:spPr>
            <a:xfrm>
              <a:off x="5971759" y="4843117"/>
              <a:ext cx="126961" cy="25950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ZoneTexte 131">
                  <a:extLst>
                    <a:ext uri="{FF2B5EF4-FFF2-40B4-BE49-F238E27FC236}">
                      <a16:creationId xmlns:a16="http://schemas.microsoft.com/office/drawing/2014/main" id="{D0361A16-67E5-48D6-B930-362449322B3E}"/>
                    </a:ext>
                  </a:extLst>
                </p:cNvPr>
                <p:cNvSpPr txBox="1"/>
                <p:nvPr/>
              </p:nvSpPr>
              <p:spPr>
                <a:xfrm>
                  <a:off x="5964645" y="4801263"/>
                  <a:ext cx="460666" cy="2923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3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oMath>
                    </m:oMathPara>
                  </a14:m>
                  <a:endParaRPr lang="en-US" sz="1300" dirty="0"/>
                </a:p>
              </p:txBody>
            </p:sp>
          </mc:Choice>
          <mc:Fallback xmlns="">
            <p:sp>
              <p:nvSpPr>
                <p:cNvPr id="132" name="ZoneTexte 131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D0361A16-67E5-48D6-B930-362449322B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4645" y="4801263"/>
                  <a:ext cx="460666" cy="292388"/>
                </a:xfrm>
                <a:prstGeom prst="rect">
                  <a:avLst/>
                </a:prstGeom>
                <a:blipFill rotWithShape="1">
                  <a:blip r:embed="rId1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D496EFCA-9086-6070-6F5B-68DFE129E2C6}"/>
              </a:ext>
            </a:extLst>
          </p:cNvPr>
          <p:cNvSpPr txBox="1"/>
          <p:nvPr/>
        </p:nvSpPr>
        <p:spPr>
          <a:xfrm>
            <a:off x="283006" y="796325"/>
            <a:ext cx="89746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Jingang Qu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’s</a:t>
            </a:r>
            <a:r>
              <a:rPr lang="fr-FR" sz="2000" b="1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PhD </a:t>
            </a:r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thesis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(IFPEN – LIP6 at Sorbonne </a:t>
            </a:r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</a:t>
            </a:r>
            <a:r>
              <a:rPr lang="fr-FR" sz="2000" dirty="0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FE7C4807-E1CC-D355-E360-A1F79A90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32" y="0"/>
            <a:ext cx="10863872" cy="514203"/>
          </a:xfrm>
        </p:spPr>
        <p:txBody>
          <a:bodyPr/>
          <a:lstStyle/>
          <a:p>
            <a:r>
              <a:rPr lang="fr-FR" dirty="0"/>
              <a:t>Intrusive </a:t>
            </a:r>
            <a:r>
              <a:rPr lang="fr-FR" dirty="0" err="1"/>
              <a:t>Models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0088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1" grpId="0" animBg="1"/>
      <p:bldP spid="74" grpId="0"/>
      <p:bldP spid="120" grpId="0" animBg="1"/>
      <p:bldP spid="122" grpId="0"/>
      <p:bldP spid="125" grpId="0"/>
      <p:bldP spid="134" grpId="0"/>
      <p:bldP spid="135" grpId="0" animBg="1"/>
      <p:bldP spid="1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3F6BB075-4E3E-4502-AD39-CC9C0D8761D0}"/>
              </a:ext>
            </a:extLst>
          </p:cNvPr>
          <p:cNvSpPr txBox="1"/>
          <p:nvPr/>
        </p:nvSpPr>
        <p:spPr>
          <a:xfrm>
            <a:off x="2943939" y="1563410"/>
            <a:ext cx="6148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Data-driven </a:t>
            </a:r>
            <a:r>
              <a:rPr lang="en-US" b="1" dirty="0"/>
              <a:t>PT-flash calculations for vapor-liquid equilibrium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2C495AB5-1C95-42AF-AE21-262618DE0109}"/>
              </a:ext>
            </a:extLst>
          </p:cNvPr>
          <p:cNvCxnSpPr>
            <a:cxnSpLocks/>
            <a:stCxn id="55" idx="3"/>
            <a:endCxn id="36" idx="1"/>
          </p:cNvCxnSpPr>
          <p:nvPr/>
        </p:nvCxnSpPr>
        <p:spPr>
          <a:xfrm>
            <a:off x="9566787" y="3485108"/>
            <a:ext cx="193258" cy="28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26C008B6-4675-477F-97B8-1C37881430CE}"/>
                  </a:ext>
                </a:extLst>
              </p:cNvPr>
              <p:cNvSpPr txBox="1"/>
              <p:nvPr/>
            </p:nvSpPr>
            <p:spPr>
              <a:xfrm>
                <a:off x="9573769" y="2983180"/>
                <a:ext cx="451277" cy="3637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6C008B6-4675-477F-97B8-1C3788143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3769" y="2983180"/>
                <a:ext cx="451277" cy="363754"/>
              </a:xfrm>
              <a:prstGeom prst="rect">
                <a:avLst/>
              </a:prstGeom>
              <a:blipFill rotWithShape="1">
                <a:blip r:embed="rId2"/>
                <a:stretch>
                  <a:fillRect r="-25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e 6">
            <a:extLst>
              <a:ext uri="{FF2B5EF4-FFF2-40B4-BE49-F238E27FC236}">
                <a16:creationId xmlns:a16="http://schemas.microsoft.com/office/drawing/2014/main" id="{CEC4D8EB-1B6E-48F5-9386-3A75DA53395D}"/>
              </a:ext>
            </a:extLst>
          </p:cNvPr>
          <p:cNvGrpSpPr/>
          <p:nvPr/>
        </p:nvGrpSpPr>
        <p:grpSpPr>
          <a:xfrm>
            <a:off x="119844" y="2131034"/>
            <a:ext cx="11969354" cy="2148721"/>
            <a:chOff x="111321" y="1267077"/>
            <a:chExt cx="11969354" cy="21487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ZoneTexte 7">
                  <a:extLst>
                    <a:ext uri="{FF2B5EF4-FFF2-40B4-BE49-F238E27FC236}">
                      <a16:creationId xmlns:a16="http://schemas.microsoft.com/office/drawing/2014/main" id="{DBB02F76-D0D1-45AA-8351-BC8E787794B2}"/>
                    </a:ext>
                  </a:extLst>
                </p:cNvPr>
                <p:cNvSpPr txBox="1"/>
                <p:nvPr/>
              </p:nvSpPr>
              <p:spPr>
                <a:xfrm>
                  <a:off x="11690236" y="2039247"/>
                  <a:ext cx="350194" cy="1169551"/>
                </a:xfrm>
                <a:prstGeom prst="rect">
                  <a:avLst/>
                </a:prstGeom>
                <a:noFill/>
                <a:ln w="28575">
                  <a:solidFill>
                    <a:schemeClr val="accent3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  <a:p>
                  <a:endParaRPr lang="en-US" sz="14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  <a:p>
                  <a:pPr algn="ctr"/>
                  <a:endParaRPr lang="en-US" sz="14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8" name="ZoneTexte 97">
                  <a:extLst>
                    <a:ext uri="{FF2B5EF4-FFF2-40B4-BE49-F238E27FC236}">
                      <a16:creationId xmlns:a16="http://schemas.microsoft.com/office/drawing/2014/main" id="{DBB02F76-D0D1-45AA-8351-BC8E787794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90236" y="2039247"/>
                  <a:ext cx="350194" cy="116955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28575">
                  <a:solidFill>
                    <a:schemeClr val="accent3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Connecteur droit avec flèche 8">
              <a:extLst>
                <a:ext uri="{FF2B5EF4-FFF2-40B4-BE49-F238E27FC236}">
                  <a16:creationId xmlns:a16="http://schemas.microsoft.com/office/drawing/2014/main" id="{24B5AC7B-A495-4EBA-88C9-A434AF847C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45434" y="1779986"/>
              <a:ext cx="14338" cy="83465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Connecteur droit avec flèche 9">
              <a:extLst>
                <a:ext uri="{FF2B5EF4-FFF2-40B4-BE49-F238E27FC236}">
                  <a16:creationId xmlns:a16="http://schemas.microsoft.com/office/drawing/2014/main" id="{151F8D5B-2BB9-4003-849C-28B8911D0705}"/>
                </a:ext>
              </a:extLst>
            </p:cNvPr>
            <p:cNvCxnSpPr>
              <a:cxnSpLocks/>
              <a:stCxn id="13" idx="3"/>
              <a:endCxn id="54" idx="1"/>
            </p:cNvCxnSpPr>
            <p:nvPr/>
          </p:nvCxnSpPr>
          <p:spPr>
            <a:xfrm>
              <a:off x="3257076" y="2618094"/>
              <a:ext cx="262018" cy="305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Connecteur droit avec flèche 10">
              <a:extLst>
                <a:ext uri="{FF2B5EF4-FFF2-40B4-BE49-F238E27FC236}">
                  <a16:creationId xmlns:a16="http://schemas.microsoft.com/office/drawing/2014/main" id="{2B180A06-0F20-4E68-901F-085B84742660}"/>
                </a:ext>
              </a:extLst>
            </p:cNvPr>
            <p:cNvCxnSpPr>
              <a:cxnSpLocks/>
              <a:stCxn id="27" idx="3"/>
              <a:endCxn id="53" idx="1"/>
            </p:cNvCxnSpPr>
            <p:nvPr/>
          </p:nvCxnSpPr>
          <p:spPr>
            <a:xfrm flipV="1">
              <a:off x="389004" y="2623547"/>
              <a:ext cx="238304" cy="18082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D986E47C-EB06-4829-B3F5-666A7CB1F50B}"/>
                </a:ext>
              </a:extLst>
            </p:cNvPr>
            <p:cNvGrpSpPr/>
            <p:nvPr/>
          </p:nvGrpSpPr>
          <p:grpSpPr>
            <a:xfrm>
              <a:off x="111321" y="1957867"/>
              <a:ext cx="280756" cy="1457931"/>
              <a:chOff x="645279" y="3281732"/>
              <a:chExt cx="280756" cy="1457931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079A50E0-9C9F-463F-AEC8-582D6DB72451}"/>
                  </a:ext>
                </a:extLst>
              </p:cNvPr>
              <p:cNvSpPr/>
              <p:nvPr/>
            </p:nvSpPr>
            <p:spPr>
              <a:xfrm>
                <a:off x="645279" y="3281732"/>
                <a:ext cx="280756" cy="224474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/>
                  <a:t>P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E9DAE04-9C99-488A-B06C-D4483644D865}"/>
                  </a:ext>
                </a:extLst>
              </p:cNvPr>
              <p:cNvSpPr/>
              <p:nvPr/>
            </p:nvSpPr>
            <p:spPr>
              <a:xfrm>
                <a:off x="645279" y="3645867"/>
                <a:ext cx="277683" cy="224474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/>
                  <a:t>T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0C7841CF-3683-44C9-A41E-D184D7C441CC}"/>
                      </a:ext>
                    </a:extLst>
                  </p:cNvPr>
                  <p:cNvSpPr/>
                  <p:nvPr/>
                </p:nvSpPr>
                <p:spPr>
                  <a:xfrm>
                    <a:off x="645279" y="4006342"/>
                    <a:ext cx="277683" cy="243789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1400" b="1" dirty="0"/>
                  </a:p>
                </p:txBody>
              </p:sp>
            </mc:Choice>
            <mc:Fallback xmlns="">
              <p:sp>
                <p:nvSpPr>
                  <p:cNvPr id="70" name="Rectangle 69">
                    <a:extLst>
                      <a:ext uri="{FF2B5EF4-FFF2-40B4-BE49-F238E27FC236}">
                        <a16:creationId xmlns:a16="http://schemas.microsoft.com/office/drawing/2014/main" id="{DFBA6D59-C6C2-4213-A60F-56F3038DA5D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5279" y="4006342"/>
                    <a:ext cx="277683" cy="243789"/>
                  </a:xfrm>
                  <a:prstGeom prst="rect">
                    <a:avLst/>
                  </a:prstGeom>
                  <a:blipFill>
                    <a:blip r:embed="rId102"/>
                    <a:stretch>
                      <a:fillRect l="-4167" b="-476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A56F4F50-0C20-43A1-A149-756EB9AAA732}"/>
                      </a:ext>
                    </a:extLst>
                  </p:cNvPr>
                  <p:cNvSpPr/>
                  <p:nvPr/>
                </p:nvSpPr>
                <p:spPr>
                  <a:xfrm>
                    <a:off x="645279" y="4515189"/>
                    <a:ext cx="277683" cy="224474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b>
                          </m:sSub>
                        </m:oMath>
                      </m:oMathPara>
                    </a14:m>
                    <a:endParaRPr lang="en-US" sz="1400" b="1" dirty="0"/>
                  </a:p>
                </p:txBody>
              </p:sp>
            </mc:Choice>
            <mc:Fallback xmlns="">
              <p:sp>
                <p:nvSpPr>
                  <p:cNvPr id="71" name="Rectangle 70">
                    <a:extLst>
                      <a:ext uri="{FF2B5EF4-FFF2-40B4-BE49-F238E27FC236}">
                        <a16:creationId xmlns:a16="http://schemas.microsoft.com/office/drawing/2014/main" id="{F3889F77-732E-46A1-8ACA-AB6DEF21143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5279" y="4515189"/>
                    <a:ext cx="277683" cy="224474"/>
                  </a:xfrm>
                  <a:prstGeom prst="rect">
                    <a:avLst/>
                  </a:prstGeom>
                  <a:blipFill>
                    <a:blip r:embed="rId103"/>
                    <a:stretch>
                      <a:fillRect l="-6250" b="-102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9" name="Groupe 28">
                <a:extLst>
                  <a:ext uri="{FF2B5EF4-FFF2-40B4-BE49-F238E27FC236}">
                    <a16:creationId xmlns:a16="http://schemas.microsoft.com/office/drawing/2014/main" id="{A4FCDA78-E9FB-4EB0-A191-75263299423F}"/>
                  </a:ext>
                </a:extLst>
              </p:cNvPr>
              <p:cNvGrpSpPr/>
              <p:nvPr/>
            </p:nvGrpSpPr>
            <p:grpSpPr>
              <a:xfrm>
                <a:off x="768218" y="4289390"/>
                <a:ext cx="45753" cy="186545"/>
                <a:chOff x="6131209" y="2493156"/>
                <a:chExt cx="71784" cy="327300"/>
              </a:xfrm>
            </p:grpSpPr>
            <p:sp>
              <p:nvSpPr>
                <p:cNvPr id="30" name="Ellipse 29">
                  <a:extLst>
                    <a:ext uri="{FF2B5EF4-FFF2-40B4-BE49-F238E27FC236}">
                      <a16:creationId xmlns:a16="http://schemas.microsoft.com/office/drawing/2014/main" id="{3427F01C-7611-489A-A867-474509D5AD16}"/>
                    </a:ext>
                  </a:extLst>
                </p:cNvPr>
                <p:cNvSpPr/>
                <p:nvPr/>
              </p:nvSpPr>
              <p:spPr>
                <a:xfrm>
                  <a:off x="6131209" y="2740856"/>
                  <a:ext cx="71729" cy="79600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31" name="Ellipse 30">
                  <a:extLst>
                    <a:ext uri="{FF2B5EF4-FFF2-40B4-BE49-F238E27FC236}">
                      <a16:creationId xmlns:a16="http://schemas.microsoft.com/office/drawing/2014/main" id="{1BF2F59C-03DA-4612-AEA0-2AA324A1EF46}"/>
                    </a:ext>
                  </a:extLst>
                </p:cNvPr>
                <p:cNvSpPr/>
                <p:nvPr/>
              </p:nvSpPr>
              <p:spPr>
                <a:xfrm>
                  <a:off x="6131264" y="2619402"/>
                  <a:ext cx="71729" cy="79600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32" name="Ellipse 31">
                  <a:extLst>
                    <a:ext uri="{FF2B5EF4-FFF2-40B4-BE49-F238E27FC236}">
                      <a16:creationId xmlns:a16="http://schemas.microsoft.com/office/drawing/2014/main" id="{3B24303C-AFAF-4762-9056-CF804D1070D5}"/>
                    </a:ext>
                  </a:extLst>
                </p:cNvPr>
                <p:cNvSpPr/>
                <p:nvPr/>
              </p:nvSpPr>
              <p:spPr>
                <a:xfrm>
                  <a:off x="6131264" y="2493156"/>
                  <a:ext cx="71729" cy="79600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</p:grpSp>
        <p:sp>
          <p:nvSpPr>
            <p:cNvPr id="13" name="Organigramme : Décision 12">
              <a:extLst>
                <a:ext uri="{FF2B5EF4-FFF2-40B4-BE49-F238E27FC236}">
                  <a16:creationId xmlns:a16="http://schemas.microsoft.com/office/drawing/2014/main" id="{3D84F583-5B8B-41B0-BDB5-77F065115126}"/>
                </a:ext>
              </a:extLst>
            </p:cNvPr>
            <p:cNvSpPr/>
            <p:nvPr/>
          </p:nvSpPr>
          <p:spPr>
            <a:xfrm>
              <a:off x="1760873" y="2294730"/>
              <a:ext cx="1496203" cy="646727"/>
            </a:xfrm>
            <a:prstGeom prst="flowChartDecision">
              <a:avLst/>
            </a:prstGeom>
            <a:ln w="38100">
              <a:solidFill>
                <a:schemeClr val="accent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400" b="1" dirty="0"/>
                <a:t>Single phase ?</a:t>
              </a:r>
              <a:endParaRPr lang="en-US" sz="1600" b="1" dirty="0"/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A5440D77-F438-4734-8512-DA733AD5B2DE}"/>
                </a:ext>
              </a:extLst>
            </p:cNvPr>
            <p:cNvSpPr txBox="1"/>
            <p:nvPr/>
          </p:nvSpPr>
          <p:spPr>
            <a:xfrm>
              <a:off x="2732207" y="1889535"/>
              <a:ext cx="4573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</a:rPr>
                <a:t>Yes</a:t>
              </a: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62D0F6B2-3D1D-4A4B-984A-4ABEE95EC84B}"/>
                </a:ext>
              </a:extLst>
            </p:cNvPr>
            <p:cNvSpPr txBox="1"/>
            <p:nvPr/>
          </p:nvSpPr>
          <p:spPr>
            <a:xfrm>
              <a:off x="3149733" y="2643279"/>
              <a:ext cx="4573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</a:rPr>
                <a:t>No</a:t>
              </a:r>
            </a:p>
          </p:txBody>
        </p: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1202663F-A238-4868-883B-05B1EF95165B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2508975" y="1772949"/>
              <a:ext cx="0" cy="521781"/>
            </a:xfrm>
            <a:prstGeom prst="line">
              <a:avLst/>
            </a:prstGeom>
            <a:ln w="190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D76E216B-4204-4B68-9B29-8759FD6A0560}"/>
                </a:ext>
              </a:extLst>
            </p:cNvPr>
            <p:cNvCxnSpPr>
              <a:cxnSpLocks/>
            </p:cNvCxnSpPr>
            <p:nvPr/>
          </p:nvCxnSpPr>
          <p:spPr>
            <a:xfrm>
              <a:off x="2508975" y="1772949"/>
              <a:ext cx="9050797" cy="605"/>
            </a:xfrm>
            <a:prstGeom prst="line">
              <a:avLst/>
            </a:prstGeom>
            <a:ln w="190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necteur droit avec flèche 17">
              <a:extLst>
                <a:ext uri="{FF2B5EF4-FFF2-40B4-BE49-F238E27FC236}">
                  <a16:creationId xmlns:a16="http://schemas.microsoft.com/office/drawing/2014/main" id="{1E021CE9-BF7E-4826-B183-0B2609382C91}"/>
                </a:ext>
              </a:extLst>
            </p:cNvPr>
            <p:cNvCxnSpPr>
              <a:cxnSpLocks/>
              <a:stCxn id="53" idx="3"/>
              <a:endCxn id="13" idx="1"/>
            </p:cNvCxnSpPr>
            <p:nvPr/>
          </p:nvCxnSpPr>
          <p:spPr>
            <a:xfrm flipV="1">
              <a:off x="1525835" y="2618094"/>
              <a:ext cx="235038" cy="545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necteur droit avec flèche 18">
              <a:extLst>
                <a:ext uri="{FF2B5EF4-FFF2-40B4-BE49-F238E27FC236}">
                  <a16:creationId xmlns:a16="http://schemas.microsoft.com/office/drawing/2014/main" id="{5D95E457-D404-4A92-A8A2-896B76A81942}"/>
                </a:ext>
              </a:extLst>
            </p:cNvPr>
            <p:cNvCxnSpPr>
              <a:cxnSpLocks/>
              <a:stCxn id="25" idx="3"/>
              <a:endCxn id="53" idx="1"/>
            </p:cNvCxnSpPr>
            <p:nvPr/>
          </p:nvCxnSpPr>
          <p:spPr>
            <a:xfrm>
              <a:off x="392077" y="2070104"/>
              <a:ext cx="235231" cy="55344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Connecteur droit avec flèche 19">
              <a:extLst>
                <a:ext uri="{FF2B5EF4-FFF2-40B4-BE49-F238E27FC236}">
                  <a16:creationId xmlns:a16="http://schemas.microsoft.com/office/drawing/2014/main" id="{138EBD9D-BB5F-41A2-9F92-35420E9071C3}"/>
                </a:ext>
              </a:extLst>
            </p:cNvPr>
            <p:cNvCxnSpPr>
              <a:cxnSpLocks/>
              <a:stCxn id="26" idx="3"/>
              <a:endCxn id="53" idx="1"/>
            </p:cNvCxnSpPr>
            <p:nvPr/>
          </p:nvCxnSpPr>
          <p:spPr>
            <a:xfrm>
              <a:off x="389004" y="2434239"/>
              <a:ext cx="238304" cy="18930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Connecteur droit avec flèche 20">
              <a:extLst>
                <a:ext uri="{FF2B5EF4-FFF2-40B4-BE49-F238E27FC236}">
                  <a16:creationId xmlns:a16="http://schemas.microsoft.com/office/drawing/2014/main" id="{6800B0BC-B268-434D-8525-0BD0EA141C9C}"/>
                </a:ext>
              </a:extLst>
            </p:cNvPr>
            <p:cNvCxnSpPr>
              <a:cxnSpLocks/>
              <a:stCxn id="28" idx="3"/>
              <a:endCxn id="53" idx="1"/>
            </p:cNvCxnSpPr>
            <p:nvPr/>
          </p:nvCxnSpPr>
          <p:spPr>
            <a:xfrm flipV="1">
              <a:off x="389004" y="2623547"/>
              <a:ext cx="238304" cy="68001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8292F9B3-D6C3-4C77-90A3-041CA9647E70}"/>
                </a:ext>
              </a:extLst>
            </p:cNvPr>
            <p:cNvSpPr txBox="1"/>
            <p:nvPr/>
          </p:nvSpPr>
          <p:spPr>
            <a:xfrm>
              <a:off x="351055" y="1267077"/>
              <a:ext cx="255111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i="1" dirty="0"/>
                <a:t>Phase condition determination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8FC7EAB6-A6D9-45CD-AFDE-7F5B78AB0AF8}"/>
                </a:ext>
              </a:extLst>
            </p:cNvPr>
            <p:cNvSpPr txBox="1"/>
            <p:nvPr/>
          </p:nvSpPr>
          <p:spPr>
            <a:xfrm>
              <a:off x="11326345" y="1276735"/>
              <a:ext cx="754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i="1" dirty="0"/>
                <a:t>Output</a:t>
              </a:r>
            </a:p>
          </p:txBody>
        </p:sp>
        <p:cxnSp>
          <p:nvCxnSpPr>
            <p:cNvPr id="24" name="Connecteur droit avec flèche 23">
              <a:extLst>
                <a:ext uri="{FF2B5EF4-FFF2-40B4-BE49-F238E27FC236}">
                  <a16:creationId xmlns:a16="http://schemas.microsoft.com/office/drawing/2014/main" id="{E9261A1E-FFD2-4C6F-8558-26F3E1AA157D}"/>
                </a:ext>
              </a:extLst>
            </p:cNvPr>
            <p:cNvCxnSpPr>
              <a:cxnSpLocks/>
              <a:stCxn id="36" idx="3"/>
              <a:endCxn id="8" idx="1"/>
            </p:cNvCxnSpPr>
            <p:nvPr/>
          </p:nvCxnSpPr>
          <p:spPr>
            <a:xfrm>
              <a:off x="11435135" y="2624023"/>
              <a:ext cx="255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84705463-B550-4175-AEAA-DF4FFAAE3E61}"/>
              </a:ext>
            </a:extLst>
          </p:cNvPr>
          <p:cNvCxnSpPr>
            <a:cxnSpLocks/>
            <a:stCxn id="36" idx="2"/>
          </p:cNvCxnSpPr>
          <p:nvPr/>
        </p:nvCxnSpPr>
        <p:spPr>
          <a:xfrm>
            <a:off x="10601852" y="3957912"/>
            <a:ext cx="0" cy="328532"/>
          </a:xfrm>
          <a:prstGeom prst="line">
            <a:avLst/>
          </a:prstGeom>
          <a:ln w="190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BC0A4D94-207C-4770-8948-1979A07D6588}"/>
              </a:ext>
            </a:extLst>
          </p:cNvPr>
          <p:cNvGrpSpPr/>
          <p:nvPr/>
        </p:nvGrpSpPr>
        <p:grpSpPr>
          <a:xfrm>
            <a:off x="5503481" y="3018047"/>
            <a:ext cx="6279142" cy="1274910"/>
            <a:chOff x="5494958" y="2154090"/>
            <a:chExt cx="6279142" cy="12749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ZoneTexte 34">
                  <a:extLst>
                    <a:ext uri="{FF2B5EF4-FFF2-40B4-BE49-F238E27FC236}">
                      <a16:creationId xmlns:a16="http://schemas.microsoft.com/office/drawing/2014/main" id="{1B6AF480-52C1-4B33-90D3-93877B06F3BE}"/>
                    </a:ext>
                  </a:extLst>
                </p:cNvPr>
                <p:cNvSpPr txBox="1"/>
                <p:nvPr/>
              </p:nvSpPr>
              <p:spPr>
                <a:xfrm>
                  <a:off x="5548943" y="3152001"/>
                  <a:ext cx="921332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fr-FR" sz="12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sz="1200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fr-FR" sz="12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sz="1200" b="1" i="1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120" name="ZoneTexte 119">
                  <a:extLst>
                    <a:ext uri="{FF2B5EF4-FFF2-40B4-BE49-F238E27FC236}">
                      <a16:creationId xmlns:a16="http://schemas.microsoft.com/office/drawing/2014/main" id="{1B6AF480-52C1-4B33-90D3-93877B06F3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8943" y="3152001"/>
                  <a:ext cx="921332" cy="276999"/>
                </a:xfrm>
                <a:prstGeom prst="rect">
                  <a:avLst/>
                </a:prstGeom>
                <a:blipFill>
                  <a:blip r:embed="rId10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Organigramme : Décision 35">
                  <a:extLst>
                    <a:ext uri="{FF2B5EF4-FFF2-40B4-BE49-F238E27FC236}">
                      <a16:creationId xmlns:a16="http://schemas.microsoft.com/office/drawing/2014/main" id="{709289B4-FB11-4AE1-97B1-12E772D0F5DD}"/>
                    </a:ext>
                  </a:extLst>
                </p:cNvPr>
                <p:cNvSpPr/>
                <p:nvPr/>
              </p:nvSpPr>
              <p:spPr>
                <a:xfrm>
                  <a:off x="9751522" y="2154090"/>
                  <a:ext cx="1683613" cy="939865"/>
                </a:xfrm>
                <a:prstGeom prst="flowChartDecision">
                  <a:avLst/>
                </a:prstGeom>
                <a:ln w="38100">
                  <a:solidFill>
                    <a:schemeClr val="accent3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00" b="1" dirty="0"/>
                    <a:t>Converge 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3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1300" b="1" dirty="0"/>
                    <a:t>?</a:t>
                  </a:r>
                </a:p>
              </p:txBody>
            </p:sp>
          </mc:Choice>
          <mc:Fallback xmlns="">
            <p:sp>
              <p:nvSpPr>
                <p:cNvPr id="103" name="Organigramme : Décision 102">
                  <a:extLst>
                    <a:ext uri="{FF2B5EF4-FFF2-40B4-BE49-F238E27FC236}">
                      <a16:creationId xmlns:a16="http://schemas.microsoft.com/office/drawing/2014/main" id="{709289B4-FB11-4AE1-97B1-12E772D0F5D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1522" y="2154090"/>
                  <a:ext cx="1683613" cy="939865"/>
                </a:xfrm>
                <a:prstGeom prst="flowChartDecision">
                  <a:avLst/>
                </a:prstGeom>
                <a:blipFill>
                  <a:blip r:embed="rId105"/>
                  <a:stretch>
                    <a:fillRect/>
                  </a:stretch>
                </a:blipFill>
                <a:ln w="38100">
                  <a:solidFill>
                    <a:schemeClr val="accent3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Connecteur droit 36">
              <a:extLst>
                <a:ext uri="{FF2B5EF4-FFF2-40B4-BE49-F238E27FC236}">
                  <a16:creationId xmlns:a16="http://schemas.microsoft.com/office/drawing/2014/main" id="{F32CB856-A6C5-4134-9707-9720503A2371}"/>
                </a:ext>
              </a:extLst>
            </p:cNvPr>
            <p:cNvCxnSpPr>
              <a:cxnSpLocks/>
            </p:cNvCxnSpPr>
            <p:nvPr/>
          </p:nvCxnSpPr>
          <p:spPr>
            <a:xfrm>
              <a:off x="5497986" y="3415798"/>
              <a:ext cx="5095343" cy="1"/>
            </a:xfrm>
            <a:prstGeom prst="line">
              <a:avLst/>
            </a:prstGeom>
            <a:ln w="190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Connecteur droit avec flèche 37">
              <a:extLst>
                <a:ext uri="{FF2B5EF4-FFF2-40B4-BE49-F238E27FC236}">
                  <a16:creationId xmlns:a16="http://schemas.microsoft.com/office/drawing/2014/main" id="{96E6EDD9-D374-4E85-B091-4A4B0FA6B0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4958" y="2621152"/>
              <a:ext cx="3028" cy="80133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D6653A9F-3F1D-4C62-9DC2-E644ECDB630E}"/>
                </a:ext>
              </a:extLst>
            </p:cNvPr>
            <p:cNvSpPr txBox="1"/>
            <p:nvPr/>
          </p:nvSpPr>
          <p:spPr>
            <a:xfrm>
              <a:off x="10579364" y="3090305"/>
              <a:ext cx="4573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</a:rPr>
                <a:t>No</a:t>
              </a:r>
            </a:p>
          </p:txBody>
        </p: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70BC593F-16DD-4EF0-8277-04BD5EA0D2FA}"/>
                </a:ext>
              </a:extLst>
            </p:cNvPr>
            <p:cNvSpPr txBox="1"/>
            <p:nvPr/>
          </p:nvSpPr>
          <p:spPr>
            <a:xfrm>
              <a:off x="11316767" y="2648297"/>
              <a:ext cx="4573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</a:rPr>
                <a:t>Yes</a:t>
              </a:r>
            </a:p>
          </p:txBody>
        </p:sp>
      </p:grp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D199EF7F-B64B-4801-B246-F0211999B38B}"/>
              </a:ext>
            </a:extLst>
          </p:cNvPr>
          <p:cNvGrpSpPr/>
          <p:nvPr/>
        </p:nvGrpSpPr>
        <p:grpSpPr>
          <a:xfrm>
            <a:off x="3338415" y="1987309"/>
            <a:ext cx="2390704" cy="1497800"/>
            <a:chOff x="3329892" y="1123352"/>
            <a:chExt cx="2390704" cy="1497800"/>
          </a:xfrm>
        </p:grpSpPr>
        <p:cxnSp>
          <p:nvCxnSpPr>
            <p:cNvPr id="42" name="Connecteur droit 41">
              <a:extLst>
                <a:ext uri="{FF2B5EF4-FFF2-40B4-BE49-F238E27FC236}">
                  <a16:creationId xmlns:a16="http://schemas.microsoft.com/office/drawing/2014/main" id="{F9378E36-8143-4F29-A41F-90F63993D41E}"/>
                </a:ext>
              </a:extLst>
            </p:cNvPr>
            <p:cNvCxnSpPr>
              <a:cxnSpLocks/>
            </p:cNvCxnSpPr>
            <p:nvPr/>
          </p:nvCxnSpPr>
          <p:spPr>
            <a:xfrm>
              <a:off x="5513200" y="1123352"/>
              <a:ext cx="0" cy="587623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3" name="Connecteur droit avec flèche 42">
              <a:extLst>
                <a:ext uri="{FF2B5EF4-FFF2-40B4-BE49-F238E27FC236}">
                  <a16:creationId xmlns:a16="http://schemas.microsoft.com/office/drawing/2014/main" id="{D39C363E-9B57-48DD-AEC6-21F1681BCEF4}"/>
                </a:ext>
              </a:extLst>
            </p:cNvPr>
            <p:cNvCxnSpPr>
              <a:cxnSpLocks/>
              <a:stCxn id="54" idx="3"/>
              <a:endCxn id="50" idx="1"/>
            </p:cNvCxnSpPr>
            <p:nvPr/>
          </p:nvCxnSpPr>
          <p:spPr>
            <a:xfrm>
              <a:off x="5305564" y="2621152"/>
              <a:ext cx="31963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BC1234F3-AD64-4040-BFF9-EA5432679F0C}"/>
                </a:ext>
              </a:extLst>
            </p:cNvPr>
            <p:cNvSpPr txBox="1"/>
            <p:nvPr/>
          </p:nvSpPr>
          <p:spPr>
            <a:xfrm>
              <a:off x="3831360" y="1282465"/>
              <a:ext cx="11877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i="1" dirty="0"/>
                <a:t>Initialization</a:t>
              </a:r>
            </a:p>
          </p:txBody>
        </p:sp>
        <p:cxnSp>
          <p:nvCxnSpPr>
            <p:cNvPr id="45" name="Connecteur droit 44">
              <a:extLst>
                <a:ext uri="{FF2B5EF4-FFF2-40B4-BE49-F238E27FC236}">
                  <a16:creationId xmlns:a16="http://schemas.microsoft.com/office/drawing/2014/main" id="{ED677967-9C3B-4214-B987-3A6842FAD134}"/>
                </a:ext>
              </a:extLst>
            </p:cNvPr>
            <p:cNvCxnSpPr>
              <a:cxnSpLocks/>
            </p:cNvCxnSpPr>
            <p:nvPr/>
          </p:nvCxnSpPr>
          <p:spPr>
            <a:xfrm>
              <a:off x="3329892" y="1123352"/>
              <a:ext cx="0" cy="649597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ZoneTexte 45">
                  <a:extLst>
                    <a:ext uri="{FF2B5EF4-FFF2-40B4-BE49-F238E27FC236}">
                      <a16:creationId xmlns:a16="http://schemas.microsoft.com/office/drawing/2014/main" id="{46A367EB-B450-4830-A29D-281B7CEE5EE5}"/>
                    </a:ext>
                  </a:extLst>
                </p:cNvPr>
                <p:cNvSpPr txBox="1"/>
                <p:nvPr/>
              </p:nvSpPr>
              <p:spPr>
                <a:xfrm>
                  <a:off x="5269319" y="2025221"/>
                  <a:ext cx="451277" cy="3637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14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49" name="ZoneTexte 148">
                  <a:extLst>
                    <a:ext uri="{FF2B5EF4-FFF2-40B4-BE49-F238E27FC236}">
                      <a16:creationId xmlns:a16="http://schemas.microsoft.com/office/drawing/2014/main" id="{46A367EB-B450-4830-A29D-281B7CEE5E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9319" y="2025221"/>
                  <a:ext cx="451277" cy="363754"/>
                </a:xfrm>
                <a:prstGeom prst="rect">
                  <a:avLst/>
                </a:prstGeom>
                <a:blipFill>
                  <a:blip r:embed="rId1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E14F1FD9-EB38-4EE7-BC38-14C789BEA50A}"/>
              </a:ext>
            </a:extLst>
          </p:cNvPr>
          <p:cNvGrpSpPr/>
          <p:nvPr/>
        </p:nvGrpSpPr>
        <p:grpSpPr>
          <a:xfrm>
            <a:off x="5633721" y="1987309"/>
            <a:ext cx="5574248" cy="1852055"/>
            <a:chOff x="5625198" y="1123352"/>
            <a:chExt cx="5574248" cy="1852055"/>
          </a:xfrm>
        </p:grpSpPr>
        <p:cxnSp>
          <p:nvCxnSpPr>
            <p:cNvPr id="48" name="Connecteur droit 47">
              <a:extLst>
                <a:ext uri="{FF2B5EF4-FFF2-40B4-BE49-F238E27FC236}">
                  <a16:creationId xmlns:a16="http://schemas.microsoft.com/office/drawing/2014/main" id="{DA8A72EB-8693-46CB-8120-597516CDB05F}"/>
                </a:ext>
              </a:extLst>
            </p:cNvPr>
            <p:cNvCxnSpPr/>
            <p:nvPr/>
          </p:nvCxnSpPr>
          <p:spPr>
            <a:xfrm>
              <a:off x="11199446" y="1123352"/>
              <a:ext cx="0" cy="587623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0946FCA7-848F-4083-B479-59772F64A737}"/>
                </a:ext>
              </a:extLst>
            </p:cNvPr>
            <p:cNvSpPr txBox="1"/>
            <p:nvPr/>
          </p:nvSpPr>
          <p:spPr>
            <a:xfrm>
              <a:off x="7512516" y="1276735"/>
              <a:ext cx="19046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i="1" dirty="0"/>
                <a:t>Successive substitution</a:t>
              </a:r>
            </a:p>
          </p:txBody>
        </p:sp>
        <p:sp>
          <p:nvSpPr>
            <p:cNvPr id="50" name="Organigramme : Alternative 49">
              <a:extLst>
                <a:ext uri="{FF2B5EF4-FFF2-40B4-BE49-F238E27FC236}">
                  <a16:creationId xmlns:a16="http://schemas.microsoft.com/office/drawing/2014/main" id="{2EB9F6C6-62D6-4D3E-982D-46DAB5A61518}"/>
                </a:ext>
              </a:extLst>
            </p:cNvPr>
            <p:cNvSpPr/>
            <p:nvPr/>
          </p:nvSpPr>
          <p:spPr>
            <a:xfrm>
              <a:off x="5625198" y="2266897"/>
              <a:ext cx="1347630" cy="708510"/>
            </a:xfrm>
            <a:prstGeom prst="flowChartAlternateProcess">
              <a:avLst/>
            </a:prstGeom>
            <a:ln w="38100">
              <a:solidFill>
                <a:schemeClr val="accent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altLang="zh-CN" sz="1400" b="1" dirty="0"/>
                <a:t>Solve Rachford-Rice equation</a:t>
              </a:r>
              <a:endParaRPr lang="en-US" sz="1400" b="1" dirty="0"/>
            </a:p>
          </p:txBody>
        </p:sp>
        <p:cxnSp>
          <p:nvCxnSpPr>
            <p:cNvPr id="51" name="Connecteur droit avec flèche 50">
              <a:extLst>
                <a:ext uri="{FF2B5EF4-FFF2-40B4-BE49-F238E27FC236}">
                  <a16:creationId xmlns:a16="http://schemas.microsoft.com/office/drawing/2014/main" id="{475A88C1-BDEA-45A0-93A7-872B1D67E7BC}"/>
                </a:ext>
              </a:extLst>
            </p:cNvPr>
            <p:cNvCxnSpPr>
              <a:cxnSpLocks/>
              <a:stCxn id="50" idx="3"/>
              <a:endCxn id="55" idx="1"/>
            </p:cNvCxnSpPr>
            <p:nvPr/>
          </p:nvCxnSpPr>
          <p:spPr>
            <a:xfrm flipV="1">
              <a:off x="6972828" y="2621151"/>
              <a:ext cx="379110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ZoneTexte 51">
                  <a:extLst>
                    <a:ext uri="{FF2B5EF4-FFF2-40B4-BE49-F238E27FC236}">
                      <a16:creationId xmlns:a16="http://schemas.microsoft.com/office/drawing/2014/main" id="{51FDB357-B717-4A9F-BA36-E2B587C41D02}"/>
                    </a:ext>
                  </a:extLst>
                </p:cNvPr>
                <p:cNvSpPr txBox="1"/>
                <p:nvPr/>
              </p:nvSpPr>
              <p:spPr>
                <a:xfrm>
                  <a:off x="6933465" y="1815587"/>
                  <a:ext cx="451277" cy="63517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14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lang="en-US" sz="14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14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7" name="ZoneTexte 136">
                  <a:extLst>
                    <a:ext uri="{FF2B5EF4-FFF2-40B4-BE49-F238E27FC236}">
                      <a16:creationId xmlns:a16="http://schemas.microsoft.com/office/drawing/2014/main" id="{51FDB357-B717-4A9F-BA36-E2B587C41D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3465" y="1815587"/>
                  <a:ext cx="451277" cy="635174"/>
                </a:xfrm>
                <a:prstGeom prst="rect">
                  <a:avLst/>
                </a:prstGeom>
                <a:blipFill>
                  <a:blip r:embed="rId1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Rectangle : coins arrondis 78">
            <a:extLst>
              <a:ext uri="{FF2B5EF4-FFF2-40B4-BE49-F238E27FC236}">
                <a16:creationId xmlns:a16="http://schemas.microsoft.com/office/drawing/2014/main" id="{7218C6B3-94AB-463E-90BB-5BD872207D5B}"/>
              </a:ext>
            </a:extLst>
          </p:cNvPr>
          <p:cNvSpPr/>
          <p:nvPr/>
        </p:nvSpPr>
        <p:spPr>
          <a:xfrm>
            <a:off x="635831" y="3135918"/>
            <a:ext cx="898527" cy="703172"/>
          </a:xfrm>
          <a:prstGeom prst="round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0000"/>
                </a:solidFill>
              </a:rPr>
              <a:t>NN </a:t>
            </a:r>
          </a:p>
          <a:p>
            <a:pPr algn="ctr"/>
            <a:r>
              <a:rPr lang="fr-FR" sz="1400" b="1" dirty="0">
                <a:solidFill>
                  <a:srgbClr val="FF0000"/>
                </a:solidFill>
              </a:rPr>
              <a:t>proxy classifier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4" name="Rectangle : coins arrondis 81">
            <a:extLst>
              <a:ext uri="{FF2B5EF4-FFF2-40B4-BE49-F238E27FC236}">
                <a16:creationId xmlns:a16="http://schemas.microsoft.com/office/drawing/2014/main" id="{45ED4DF5-C8E2-42AA-8118-A53F71131E94}"/>
              </a:ext>
            </a:extLst>
          </p:cNvPr>
          <p:cNvSpPr/>
          <p:nvPr/>
        </p:nvSpPr>
        <p:spPr>
          <a:xfrm>
            <a:off x="3527617" y="3120323"/>
            <a:ext cx="1786470" cy="729571"/>
          </a:xfrm>
          <a:prstGeom prst="round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00B050"/>
                </a:solidFill>
              </a:rPr>
              <a:t>NN proxy initializer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55" name="Rectangle : coins arrondis 83">
            <a:extLst>
              <a:ext uri="{FF2B5EF4-FFF2-40B4-BE49-F238E27FC236}">
                <a16:creationId xmlns:a16="http://schemas.microsoft.com/office/drawing/2014/main" id="{D4D1EDA7-1295-4D02-ADD5-3A631FB6C3F2}"/>
              </a:ext>
            </a:extLst>
          </p:cNvPr>
          <p:cNvSpPr/>
          <p:nvPr/>
        </p:nvSpPr>
        <p:spPr>
          <a:xfrm>
            <a:off x="7360461" y="2962407"/>
            <a:ext cx="2206326" cy="1045401"/>
          </a:xfrm>
          <a:prstGeom prst="roundRect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0070C0"/>
                </a:solidFill>
              </a:rPr>
              <a:t>NN proxy calculator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49BFAD-42E9-DCC7-FF7F-20C0B1FDA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32" y="0"/>
            <a:ext cx="10863872" cy="514203"/>
          </a:xfrm>
        </p:spPr>
        <p:txBody>
          <a:bodyPr/>
          <a:lstStyle/>
          <a:p>
            <a:r>
              <a:rPr lang="fr-FR" dirty="0"/>
              <a:t>Intrusive </a:t>
            </a:r>
            <a:r>
              <a:rPr lang="fr-FR" dirty="0" err="1"/>
              <a:t>Models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21625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78025-A02E-17F3-9975-5DEA63D77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4A499F-922A-617E-07B9-A3589A29C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32" y="0"/>
            <a:ext cx="10863872" cy="514203"/>
          </a:xfrm>
        </p:spPr>
        <p:txBody>
          <a:bodyPr/>
          <a:lstStyle/>
          <a:p>
            <a:r>
              <a:rPr lang="fr-FR" dirty="0"/>
              <a:t>Intrusive </a:t>
            </a:r>
            <a:r>
              <a:rPr lang="fr-FR" dirty="0" err="1"/>
              <a:t>Models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AAC7FD-8354-CFE7-2104-F3BCF163779C}"/>
              </a:ext>
            </a:extLst>
          </p:cNvPr>
          <p:cNvSpPr txBox="1">
            <a:spLocks/>
          </p:cNvSpPr>
          <p:nvPr/>
        </p:nvSpPr>
        <p:spPr>
          <a:xfrm>
            <a:off x="838198" y="868373"/>
            <a:ext cx="11108637" cy="636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200" kern="1200">
                <a:solidFill>
                  <a:srgbClr val="0070C0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2000" kern="1200">
                <a:solidFill>
                  <a:srgbClr val="0070C0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800" kern="1200">
                <a:solidFill>
                  <a:srgbClr val="0070C0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600" kern="1200">
                <a:solidFill>
                  <a:srgbClr val="0070C0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400" kern="1200">
                <a:solidFill>
                  <a:srgbClr val="0070C0"/>
                </a:solidFill>
                <a:latin typeface="Roboto Light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000" dirty="0"/>
              <a:t>Neural </a:t>
            </a:r>
            <a:r>
              <a:rPr lang="fr-FR" sz="2000" dirty="0" err="1"/>
              <a:t>bias</a:t>
            </a:r>
            <a:r>
              <a:rPr lang="fr-FR" sz="2000" dirty="0"/>
              <a:t> of neural networks </a:t>
            </a:r>
            <a:r>
              <a:rPr lang="fr-FR" sz="2000" dirty="0" err="1"/>
              <a:t>towards</a:t>
            </a:r>
            <a:r>
              <a:rPr lang="fr-FR" sz="2000" dirty="0"/>
              <a:t> </a:t>
            </a:r>
            <a:r>
              <a:rPr lang="fr-FR" sz="2000" dirty="0" err="1"/>
              <a:t>predicting</a:t>
            </a:r>
            <a:r>
              <a:rPr lang="fr-FR" sz="2000" dirty="0"/>
              <a:t> </a:t>
            </a:r>
            <a:r>
              <a:rPr lang="fr-FR" sz="2000" dirty="0" err="1"/>
              <a:t>low</a:t>
            </a:r>
            <a:r>
              <a:rPr lang="fr-FR" sz="2000" dirty="0"/>
              <a:t> </a:t>
            </a:r>
            <a:r>
              <a:rPr lang="fr-FR" sz="2000" dirty="0" err="1"/>
              <a:t>frequency</a:t>
            </a:r>
            <a:r>
              <a:rPr lang="fr-FR" sz="2000" dirty="0"/>
              <a:t> components of the solution</a:t>
            </a:r>
          </a:p>
          <a:p>
            <a:pPr marL="0" indent="0">
              <a:buNone/>
            </a:pPr>
            <a:endParaRPr lang="fr-FR" sz="2000" dirty="0"/>
          </a:p>
          <a:p>
            <a:pPr>
              <a:buFont typeface="Wingdings" panose="05000000000000000000" pitchFamily="2" charset="2"/>
              <a:buChar char="Ø"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914400" lvl="2" indent="0">
              <a:buFontTx/>
              <a:buNone/>
            </a:pPr>
            <a:endParaRPr lang="fr-FR" sz="2000" dirty="0"/>
          </a:p>
          <a:p>
            <a:pPr marL="914400" lvl="2" indent="0">
              <a:buFontTx/>
              <a:buNone/>
            </a:pPr>
            <a:endParaRPr lang="fr-FR" sz="2000" dirty="0"/>
          </a:p>
        </p:txBody>
      </p:sp>
      <p:sp>
        <p:nvSpPr>
          <p:cNvPr id="56" name="Espace réservé du contenu 2">
            <a:extLst>
              <a:ext uri="{FF2B5EF4-FFF2-40B4-BE49-F238E27FC236}">
                <a16:creationId xmlns:a16="http://schemas.microsoft.com/office/drawing/2014/main" id="{93D4710E-2109-4C30-4F24-555F1951DE1E}"/>
              </a:ext>
            </a:extLst>
          </p:cNvPr>
          <p:cNvSpPr txBox="1">
            <a:spLocks/>
          </p:cNvSpPr>
          <p:nvPr/>
        </p:nvSpPr>
        <p:spPr>
          <a:xfrm>
            <a:off x="838198" y="5302242"/>
            <a:ext cx="9867055" cy="38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200" kern="1200">
                <a:solidFill>
                  <a:srgbClr val="0070C0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2000" kern="1200">
                <a:solidFill>
                  <a:srgbClr val="0070C0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800" kern="1200">
                <a:solidFill>
                  <a:srgbClr val="0070C0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600" kern="1200">
                <a:solidFill>
                  <a:srgbClr val="0070C0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400" kern="1200">
                <a:solidFill>
                  <a:srgbClr val="0070C0"/>
                </a:solidFill>
                <a:latin typeface="Roboto Light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000" dirty="0"/>
              <a:t>Good </a:t>
            </a:r>
            <a:r>
              <a:rPr lang="fr-FR" sz="2000" dirty="0" err="1"/>
              <a:t>synergy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the </a:t>
            </a:r>
            <a:r>
              <a:rPr lang="fr-FR" sz="2000" dirty="0" err="1"/>
              <a:t>quadratic</a:t>
            </a:r>
            <a:r>
              <a:rPr lang="fr-FR" sz="2000" dirty="0"/>
              <a:t> convergence of Newton </a:t>
            </a:r>
            <a:r>
              <a:rPr lang="fr-FR" sz="2000" dirty="0" err="1"/>
              <a:t>methods</a:t>
            </a:r>
            <a:r>
              <a:rPr lang="fr-FR" sz="2000" dirty="0"/>
              <a:t> </a:t>
            </a:r>
            <a:r>
              <a:rPr lang="fr-FR" sz="2000" b="1" dirty="0" err="1"/>
              <a:t>near</a:t>
            </a:r>
            <a:r>
              <a:rPr lang="fr-FR" sz="2000" dirty="0"/>
              <a:t> the solution</a:t>
            </a:r>
          </a:p>
          <a:p>
            <a:pPr marL="0" indent="0">
              <a:buNone/>
            </a:pPr>
            <a:endParaRPr lang="fr-FR" sz="2000" dirty="0"/>
          </a:p>
          <a:p>
            <a:pPr>
              <a:buFont typeface="Wingdings" panose="05000000000000000000" pitchFamily="2" charset="2"/>
              <a:buChar char="Ø"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914400" lvl="2" indent="0">
              <a:buFontTx/>
              <a:buNone/>
            </a:pPr>
            <a:endParaRPr lang="fr-FR" sz="2000" dirty="0"/>
          </a:p>
          <a:p>
            <a:pPr marL="914400" lvl="2" indent="0">
              <a:buFontTx/>
              <a:buNone/>
            </a:pPr>
            <a:endParaRPr lang="fr-FR" sz="2000" dirty="0"/>
          </a:p>
        </p:txBody>
      </p:sp>
      <p:pic>
        <p:nvPicPr>
          <p:cNvPr id="57" name="Image 56">
            <a:extLst>
              <a:ext uri="{FF2B5EF4-FFF2-40B4-BE49-F238E27FC236}">
                <a16:creationId xmlns:a16="http://schemas.microsoft.com/office/drawing/2014/main" id="{AC11CAFD-1A99-A85D-1122-33E8F5F42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216" y="1630441"/>
            <a:ext cx="4505325" cy="2905125"/>
          </a:xfrm>
          <a:prstGeom prst="rect">
            <a:avLst/>
          </a:prstGeom>
        </p:spPr>
      </p:pic>
      <p:sp>
        <p:nvSpPr>
          <p:cNvPr id="58" name="ZoneTexte 57">
            <a:extLst>
              <a:ext uri="{FF2B5EF4-FFF2-40B4-BE49-F238E27FC236}">
                <a16:creationId xmlns:a16="http://schemas.microsoft.com/office/drawing/2014/main" id="{6D98618B-3907-A4F7-9EA5-1680BE8AE76B}"/>
              </a:ext>
            </a:extLst>
          </p:cNvPr>
          <p:cNvSpPr txBox="1"/>
          <p:nvPr/>
        </p:nvSpPr>
        <p:spPr>
          <a:xfrm>
            <a:off x="663437" y="6438483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1600" baseline="30000" dirty="0"/>
              <a:t>1 </a:t>
            </a:r>
            <a:r>
              <a:rPr lang="fr-FR" sz="1800" dirty="0" err="1"/>
              <a:t>Jinchao</a:t>
            </a:r>
            <a:r>
              <a:rPr lang="fr-FR" sz="1800" dirty="0"/>
              <a:t> Xu,</a:t>
            </a:r>
            <a:r>
              <a:rPr lang="fr-FR" sz="1800" i="1" dirty="0"/>
              <a:t> CEMRACS 2023 Lecture Notes</a:t>
            </a:r>
          </a:p>
        </p:txBody>
      </p:sp>
      <p:sp>
        <p:nvSpPr>
          <p:cNvPr id="59" name="Espace réservé du contenu 2">
            <a:extLst>
              <a:ext uri="{FF2B5EF4-FFF2-40B4-BE49-F238E27FC236}">
                <a16:creationId xmlns:a16="http://schemas.microsoft.com/office/drawing/2014/main" id="{CD221BF5-0C05-9EAA-5309-D37A52C05574}"/>
              </a:ext>
            </a:extLst>
          </p:cNvPr>
          <p:cNvSpPr txBox="1">
            <a:spLocks/>
          </p:cNvSpPr>
          <p:nvPr/>
        </p:nvSpPr>
        <p:spPr>
          <a:xfrm>
            <a:off x="4188515" y="4526595"/>
            <a:ext cx="3814970" cy="313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200" kern="1200">
                <a:solidFill>
                  <a:srgbClr val="0070C0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2000" kern="1200">
                <a:solidFill>
                  <a:srgbClr val="0070C0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800" kern="1200">
                <a:solidFill>
                  <a:srgbClr val="0070C0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600" kern="1200">
                <a:solidFill>
                  <a:srgbClr val="0070C0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400" kern="1200">
                <a:solidFill>
                  <a:srgbClr val="0070C0"/>
                </a:solidFill>
                <a:latin typeface="Roboto Light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dirty="0"/>
              <a:t>Poisson </a:t>
            </a:r>
            <a:r>
              <a:rPr lang="fr-FR" sz="1400" dirty="0" err="1"/>
              <a:t>equation</a:t>
            </a:r>
            <a:r>
              <a:rPr lang="fr-FR" sz="1400" dirty="0"/>
              <a:t> fit </a:t>
            </a:r>
            <a:r>
              <a:rPr lang="fr-FR" sz="1400" dirty="0" err="1"/>
              <a:t>with</a:t>
            </a:r>
            <a:r>
              <a:rPr lang="fr-FR" sz="1400" dirty="0"/>
              <a:t> </a:t>
            </a:r>
            <a:r>
              <a:rPr lang="fr-FR" sz="1400" dirty="0" err="1"/>
              <a:t>ReLU</a:t>
            </a:r>
            <a:r>
              <a:rPr lang="fr-FR" sz="1400" dirty="0"/>
              <a:t> activation function</a:t>
            </a:r>
            <a:r>
              <a:rPr lang="fr-FR" sz="1400" baseline="30000" dirty="0"/>
              <a:t>1</a:t>
            </a:r>
          </a:p>
          <a:p>
            <a:pPr marL="0" indent="0">
              <a:buNone/>
            </a:pPr>
            <a:endParaRPr lang="fr-FR" sz="1400" dirty="0"/>
          </a:p>
          <a:p>
            <a:pPr>
              <a:buFont typeface="Wingdings" panose="05000000000000000000" pitchFamily="2" charset="2"/>
              <a:buChar char="Ø"/>
            </a:pPr>
            <a:endParaRPr lang="fr-FR" sz="1400" dirty="0"/>
          </a:p>
          <a:p>
            <a:pPr marL="0" indent="0">
              <a:buNone/>
            </a:pPr>
            <a:endParaRPr lang="fr-FR" sz="1400" dirty="0"/>
          </a:p>
          <a:p>
            <a:pPr marL="914400" lvl="2" indent="0">
              <a:buFontTx/>
              <a:buNone/>
            </a:pPr>
            <a:endParaRPr lang="fr-FR" sz="1400" dirty="0"/>
          </a:p>
          <a:p>
            <a:pPr marL="914400" lvl="2" indent="0">
              <a:buFontTx/>
              <a:buNone/>
            </a:pP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2953088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DE858-D6E7-1626-1B2A-5EBF1E3F7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F8C1E3-62DA-8E7D-D9C2-3A2A25EBE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32" y="0"/>
            <a:ext cx="10863872" cy="514203"/>
          </a:xfrm>
        </p:spPr>
        <p:txBody>
          <a:bodyPr/>
          <a:lstStyle/>
          <a:p>
            <a:r>
              <a:rPr lang="fr-FR" dirty="0"/>
              <a:t>Intrusive </a:t>
            </a:r>
            <a:r>
              <a:rPr lang="fr-FR" dirty="0" err="1"/>
              <a:t>Models</a:t>
            </a:r>
            <a:endParaRPr lang="fr-FR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7BA29A6C-7DBA-A847-07B8-00262EFD4203}"/>
              </a:ext>
            </a:extLst>
          </p:cNvPr>
          <p:cNvSpPr txBox="1">
            <a:spLocks/>
          </p:cNvSpPr>
          <p:nvPr/>
        </p:nvSpPr>
        <p:spPr>
          <a:xfrm>
            <a:off x="241844" y="1108990"/>
            <a:ext cx="11381860" cy="29728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>
                <a:solidFill>
                  <a:srgbClr val="7030A0"/>
                </a:solidFill>
                <a:latin typeface="Calibri" panose="020F0502020204030204" pitchFamily="34" charset="0"/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0070C0"/>
                </a:solidFill>
                <a:latin typeface="Calibri" panose="020F0502020204030204" pitchFamily="34" charset="0"/>
              </a:defRPr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>
                <a:solidFill>
                  <a:srgbClr val="0070C0"/>
                </a:solidFill>
                <a:latin typeface="Calibri" panose="020F0502020204030204" pitchFamily="34" charset="0"/>
              </a:defRPr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>
                <a:solidFill>
                  <a:srgbClr val="0070C0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600">
                <a:solidFill>
                  <a:srgbClr val="0070C0"/>
                </a:solidFill>
                <a:latin typeface="Roboto Light" panose="02000000000000000000" pitchFamily="2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Convergence guaranteed</a:t>
            </a:r>
          </a:p>
          <a:p>
            <a:endParaRPr lang="en-US" dirty="0"/>
          </a:p>
          <a:p>
            <a:r>
              <a:rPr lang="en-US" dirty="0"/>
              <a:t>Downsides</a:t>
            </a:r>
          </a:p>
          <a:p>
            <a:pPr lvl="1"/>
            <a:r>
              <a:rPr lang="en-US" dirty="0"/>
              <a:t>Very problem dependent</a:t>
            </a:r>
          </a:p>
          <a:p>
            <a:pPr lvl="1"/>
            <a:r>
              <a:rPr lang="en-US" dirty="0"/>
              <a:t>“Limited” computational gains</a:t>
            </a:r>
          </a:p>
          <a:p>
            <a:pPr lvl="1"/>
            <a:r>
              <a:rPr lang="en-US" dirty="0"/>
              <a:t>Requires low latency hybrid HPC / AI computations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08451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>
            <a:extLst>
              <a:ext uri="{FF2B5EF4-FFF2-40B4-BE49-F238E27FC236}">
                <a16:creationId xmlns:a16="http://schemas.microsoft.com/office/drawing/2014/main" id="{51F40E50-B559-787A-F372-48D4B54F1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32" y="0"/>
            <a:ext cx="10863872" cy="514203"/>
          </a:xfrm>
        </p:spPr>
        <p:txBody>
          <a:bodyPr/>
          <a:lstStyle/>
          <a:p>
            <a:r>
              <a:rPr lang="fr-FR" dirty="0" err="1"/>
              <a:t>Adding</a:t>
            </a:r>
            <a:r>
              <a:rPr lang="fr-FR" dirty="0"/>
              <a:t> </a:t>
            </a:r>
            <a:r>
              <a:rPr lang="fr-FR" dirty="0" err="1"/>
              <a:t>physical</a:t>
            </a:r>
            <a:r>
              <a:rPr lang="fr-FR" dirty="0"/>
              <a:t> </a:t>
            </a:r>
            <a:r>
              <a:rPr lang="fr-FR" dirty="0" err="1"/>
              <a:t>constraints</a:t>
            </a:r>
            <a:endParaRPr lang="fr-FR" dirty="0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619D1A38-F504-5141-EAF3-128C8F67C268}"/>
              </a:ext>
            </a:extLst>
          </p:cNvPr>
          <p:cNvSpPr txBox="1">
            <a:spLocks/>
          </p:cNvSpPr>
          <p:nvPr/>
        </p:nvSpPr>
        <p:spPr>
          <a:xfrm>
            <a:off x="241844" y="1108990"/>
            <a:ext cx="11381860" cy="1681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>
                <a:solidFill>
                  <a:srgbClr val="7030A0"/>
                </a:solidFill>
                <a:latin typeface="Calibri" panose="020F0502020204030204" pitchFamily="34" charset="0"/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0070C0"/>
                </a:solidFill>
                <a:latin typeface="Calibri" panose="020F0502020204030204" pitchFamily="34" charset="0"/>
              </a:defRPr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>
                <a:solidFill>
                  <a:srgbClr val="0070C0"/>
                </a:solidFill>
                <a:latin typeface="Calibri" panose="020F0502020204030204" pitchFamily="34" charset="0"/>
              </a:defRPr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>
                <a:solidFill>
                  <a:srgbClr val="0070C0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600">
                <a:solidFill>
                  <a:srgbClr val="0070C0"/>
                </a:solidFill>
                <a:latin typeface="Roboto Light" panose="02000000000000000000" pitchFamily="2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Soft constraints</a:t>
            </a:r>
          </a:p>
          <a:p>
            <a:pPr lvl="1"/>
            <a:r>
              <a:rPr lang="en-US" dirty="0"/>
              <a:t>Training issues</a:t>
            </a:r>
          </a:p>
          <a:p>
            <a:pPr lvl="1"/>
            <a:r>
              <a:rPr lang="en-US" dirty="0"/>
              <a:t>Can be difficult to express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016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16E1E-F948-A454-8640-528641054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>
            <a:extLst>
              <a:ext uri="{FF2B5EF4-FFF2-40B4-BE49-F238E27FC236}">
                <a16:creationId xmlns:a16="http://schemas.microsoft.com/office/drawing/2014/main" id="{E2459807-56F8-C5B0-3A30-815285AE8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32" y="0"/>
            <a:ext cx="10863872" cy="514203"/>
          </a:xfrm>
        </p:spPr>
        <p:txBody>
          <a:bodyPr/>
          <a:lstStyle/>
          <a:p>
            <a:r>
              <a:rPr lang="fr-FR" dirty="0" err="1"/>
              <a:t>Adding</a:t>
            </a:r>
            <a:r>
              <a:rPr lang="fr-FR" dirty="0"/>
              <a:t> </a:t>
            </a:r>
            <a:r>
              <a:rPr lang="fr-FR" dirty="0" err="1"/>
              <a:t>physical</a:t>
            </a:r>
            <a:r>
              <a:rPr lang="fr-FR" dirty="0"/>
              <a:t> </a:t>
            </a:r>
            <a:r>
              <a:rPr lang="fr-FR" dirty="0" err="1"/>
              <a:t>constraints</a:t>
            </a:r>
            <a:endParaRPr lang="fr-FR" dirty="0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DD66E3BD-D288-69E7-BBF7-7A67CCB09E19}"/>
              </a:ext>
            </a:extLst>
          </p:cNvPr>
          <p:cNvSpPr txBox="1">
            <a:spLocks/>
          </p:cNvSpPr>
          <p:nvPr/>
        </p:nvSpPr>
        <p:spPr>
          <a:xfrm>
            <a:off x="241844" y="1108990"/>
            <a:ext cx="11381860" cy="1681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>
                <a:solidFill>
                  <a:srgbClr val="7030A0"/>
                </a:solidFill>
                <a:latin typeface="Calibri" panose="020F0502020204030204" pitchFamily="34" charset="0"/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0070C0"/>
                </a:solidFill>
                <a:latin typeface="Calibri" panose="020F0502020204030204" pitchFamily="34" charset="0"/>
              </a:defRPr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>
                <a:solidFill>
                  <a:srgbClr val="0070C0"/>
                </a:solidFill>
                <a:latin typeface="Calibri" panose="020F0502020204030204" pitchFamily="34" charset="0"/>
              </a:defRPr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>
                <a:solidFill>
                  <a:srgbClr val="0070C0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600">
                <a:solidFill>
                  <a:srgbClr val="0070C0"/>
                </a:solidFill>
                <a:latin typeface="Roboto Light" panose="02000000000000000000" pitchFamily="2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Hard constraints</a:t>
            </a:r>
          </a:p>
          <a:p>
            <a:pPr lvl="1"/>
            <a:r>
              <a:rPr lang="en-US" dirty="0"/>
              <a:t>Problem dependent</a:t>
            </a:r>
          </a:p>
          <a:p>
            <a:pPr lvl="1"/>
            <a:r>
              <a:rPr lang="en-US" dirty="0"/>
              <a:t>Gradient issues </a:t>
            </a:r>
            <a:r>
              <a:rPr lang="en-US" dirty="0">
                <a:sym typeface="Wingdings" panose="05000000000000000000" pitchFamily="2" charset="2"/>
              </a:rPr>
              <a:t> hard to train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5FD22AB2-EEDB-88C7-29B9-B1A81F3717FE}"/>
              </a:ext>
            </a:extLst>
          </p:cNvPr>
          <p:cNvSpPr/>
          <p:nvPr/>
        </p:nvSpPr>
        <p:spPr>
          <a:xfrm>
            <a:off x="1384851" y="2345634"/>
            <a:ext cx="414132" cy="32799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900" dirty="0"/>
              <a:t>Y</a:t>
            </a:r>
            <a:r>
              <a:rPr lang="fr-FR" sz="900" baseline="-25000" dirty="0"/>
              <a:t>1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B89140DA-8E0F-2C9B-63C2-43E10576B0AB}"/>
              </a:ext>
            </a:extLst>
          </p:cNvPr>
          <p:cNvSpPr/>
          <p:nvPr/>
        </p:nvSpPr>
        <p:spPr>
          <a:xfrm>
            <a:off x="1384851" y="3061251"/>
            <a:ext cx="414132" cy="32799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900" dirty="0"/>
              <a:t>Y</a:t>
            </a:r>
            <a:r>
              <a:rPr lang="fr-FR" sz="900" baseline="-25000" dirty="0"/>
              <a:t>2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0023D066-25D5-3119-D29B-7FE500CAB306}"/>
              </a:ext>
            </a:extLst>
          </p:cNvPr>
          <p:cNvSpPr/>
          <p:nvPr/>
        </p:nvSpPr>
        <p:spPr>
          <a:xfrm>
            <a:off x="1384851" y="4918730"/>
            <a:ext cx="414132" cy="32799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900" dirty="0"/>
              <a:t>Y</a:t>
            </a:r>
            <a:r>
              <a:rPr lang="fr-FR" sz="900" baseline="-25000" dirty="0"/>
              <a:t>N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1829EE67-4E3F-ABBB-890E-2E4DBCDEBF00}"/>
              </a:ext>
            </a:extLst>
          </p:cNvPr>
          <p:cNvSpPr/>
          <p:nvPr/>
        </p:nvSpPr>
        <p:spPr>
          <a:xfrm>
            <a:off x="3117573" y="2733259"/>
            <a:ext cx="414132" cy="32799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900" baseline="-25000" dirty="0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65B10183-114D-A833-875C-E31DB271322B}"/>
              </a:ext>
            </a:extLst>
          </p:cNvPr>
          <p:cNvSpPr/>
          <p:nvPr/>
        </p:nvSpPr>
        <p:spPr>
          <a:xfrm>
            <a:off x="3117573" y="3488635"/>
            <a:ext cx="414132" cy="32799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900" baseline="-25000" dirty="0"/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C15FE601-3E3F-D065-E002-6FB4DBBFDA36}"/>
              </a:ext>
            </a:extLst>
          </p:cNvPr>
          <p:cNvSpPr/>
          <p:nvPr/>
        </p:nvSpPr>
        <p:spPr>
          <a:xfrm>
            <a:off x="3117573" y="4244011"/>
            <a:ext cx="414132" cy="32799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900" baseline="-25000" dirty="0"/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2880FC3B-45AD-48CE-90D1-338BFDB3A7F7}"/>
              </a:ext>
            </a:extLst>
          </p:cNvPr>
          <p:cNvCxnSpPr>
            <a:cxnSpLocks/>
            <a:stCxn id="47" idx="6"/>
            <a:endCxn id="50" idx="2"/>
          </p:cNvCxnSpPr>
          <p:nvPr/>
        </p:nvCxnSpPr>
        <p:spPr>
          <a:xfrm>
            <a:off x="1798983" y="2509630"/>
            <a:ext cx="1318590" cy="3876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71AA400B-AB20-D87F-0601-9873D5F39E68}"/>
              </a:ext>
            </a:extLst>
          </p:cNvPr>
          <p:cNvCxnSpPr>
            <a:cxnSpLocks/>
            <a:stCxn id="48" idx="6"/>
            <a:endCxn id="50" idx="2"/>
          </p:cNvCxnSpPr>
          <p:nvPr/>
        </p:nvCxnSpPr>
        <p:spPr>
          <a:xfrm flipV="1">
            <a:off x="1798983" y="2897255"/>
            <a:ext cx="1318590" cy="327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37E279DD-80D2-9741-A005-BEF53E9CFDA8}"/>
              </a:ext>
            </a:extLst>
          </p:cNvPr>
          <p:cNvCxnSpPr>
            <a:cxnSpLocks/>
            <a:stCxn id="47" idx="6"/>
            <a:endCxn id="51" idx="2"/>
          </p:cNvCxnSpPr>
          <p:nvPr/>
        </p:nvCxnSpPr>
        <p:spPr>
          <a:xfrm>
            <a:off x="1798983" y="2509630"/>
            <a:ext cx="1318590" cy="11430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F969BBA7-95A3-4697-46BB-5946AA4D203C}"/>
              </a:ext>
            </a:extLst>
          </p:cNvPr>
          <p:cNvCxnSpPr>
            <a:cxnSpLocks/>
            <a:stCxn id="47" idx="6"/>
            <a:endCxn id="52" idx="2"/>
          </p:cNvCxnSpPr>
          <p:nvPr/>
        </p:nvCxnSpPr>
        <p:spPr>
          <a:xfrm>
            <a:off x="1798983" y="2509630"/>
            <a:ext cx="1318590" cy="18983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A73921C1-647E-915E-1248-5411FA7A32BD}"/>
              </a:ext>
            </a:extLst>
          </p:cNvPr>
          <p:cNvCxnSpPr>
            <a:cxnSpLocks/>
            <a:stCxn id="48" idx="6"/>
            <a:endCxn id="51" idx="2"/>
          </p:cNvCxnSpPr>
          <p:nvPr/>
        </p:nvCxnSpPr>
        <p:spPr>
          <a:xfrm>
            <a:off x="1798983" y="3225247"/>
            <a:ext cx="1318590" cy="427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75D2504E-DCB5-44B4-998E-C391CC9AECC4}"/>
              </a:ext>
            </a:extLst>
          </p:cNvPr>
          <p:cNvCxnSpPr>
            <a:cxnSpLocks/>
            <a:stCxn id="48" idx="6"/>
            <a:endCxn id="52" idx="2"/>
          </p:cNvCxnSpPr>
          <p:nvPr/>
        </p:nvCxnSpPr>
        <p:spPr>
          <a:xfrm>
            <a:off x="1798983" y="3225247"/>
            <a:ext cx="1318590" cy="1182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C6C2B99A-878B-4218-525E-3C9934C96DC5}"/>
              </a:ext>
            </a:extLst>
          </p:cNvPr>
          <p:cNvCxnSpPr>
            <a:cxnSpLocks/>
            <a:stCxn id="49" idx="6"/>
            <a:endCxn id="50" idx="2"/>
          </p:cNvCxnSpPr>
          <p:nvPr/>
        </p:nvCxnSpPr>
        <p:spPr>
          <a:xfrm flipV="1">
            <a:off x="1798983" y="2897255"/>
            <a:ext cx="1318590" cy="21854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AB691651-6A25-30AB-24E2-8263C8C903DB}"/>
              </a:ext>
            </a:extLst>
          </p:cNvPr>
          <p:cNvCxnSpPr>
            <a:cxnSpLocks/>
            <a:stCxn id="49" idx="5"/>
            <a:endCxn id="51" idx="2"/>
          </p:cNvCxnSpPr>
          <p:nvPr/>
        </p:nvCxnSpPr>
        <p:spPr>
          <a:xfrm flipV="1">
            <a:off x="1738335" y="3652631"/>
            <a:ext cx="1379238" cy="15460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8DFF2DF1-FB0B-5890-ED63-D8D441EBA81B}"/>
              </a:ext>
            </a:extLst>
          </p:cNvPr>
          <p:cNvCxnSpPr>
            <a:cxnSpLocks/>
            <a:stCxn id="49" idx="6"/>
            <a:endCxn id="52" idx="2"/>
          </p:cNvCxnSpPr>
          <p:nvPr/>
        </p:nvCxnSpPr>
        <p:spPr>
          <a:xfrm flipV="1">
            <a:off x="1798983" y="4408007"/>
            <a:ext cx="1318590" cy="6747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ZoneTexte 61">
            <a:extLst>
              <a:ext uri="{FF2B5EF4-FFF2-40B4-BE49-F238E27FC236}">
                <a16:creationId xmlns:a16="http://schemas.microsoft.com/office/drawing/2014/main" id="{C7F7936E-3A2E-55B0-C5D9-ACD9D0B19B89}"/>
              </a:ext>
            </a:extLst>
          </p:cNvPr>
          <p:cNvSpPr txBox="1"/>
          <p:nvPr/>
        </p:nvSpPr>
        <p:spPr>
          <a:xfrm>
            <a:off x="3856383" y="3389243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 . .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B179B090-63D5-80CC-E2F2-A255F9EB8A07}"/>
              </a:ext>
            </a:extLst>
          </p:cNvPr>
          <p:cNvSpPr txBox="1"/>
          <p:nvPr/>
        </p:nvSpPr>
        <p:spPr>
          <a:xfrm rot="5400000">
            <a:off x="1431596" y="3896415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 . .</a:t>
            </a: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417DE7E2-79E2-4B74-9164-9D11075E6526}"/>
              </a:ext>
            </a:extLst>
          </p:cNvPr>
          <p:cNvSpPr/>
          <p:nvPr/>
        </p:nvSpPr>
        <p:spPr>
          <a:xfrm>
            <a:off x="4437583" y="3101008"/>
            <a:ext cx="414132" cy="32799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900" baseline="-25000" dirty="0"/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37D2F84A-A0F2-B1B7-ACA5-A08B3157BD6C}"/>
              </a:ext>
            </a:extLst>
          </p:cNvPr>
          <p:cNvSpPr/>
          <p:nvPr/>
        </p:nvSpPr>
        <p:spPr>
          <a:xfrm>
            <a:off x="4437583" y="3989990"/>
            <a:ext cx="414132" cy="32799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900" baseline="-25000" dirty="0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9753BE68-66E9-E085-CD46-35BC8B979FB4}"/>
              </a:ext>
            </a:extLst>
          </p:cNvPr>
          <p:cNvSpPr/>
          <p:nvPr/>
        </p:nvSpPr>
        <p:spPr>
          <a:xfrm>
            <a:off x="5502964" y="2375450"/>
            <a:ext cx="414132" cy="32799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900" baseline="-25000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031EAC7C-1D26-31D0-B1CA-0CB6CA744C9C}"/>
              </a:ext>
            </a:extLst>
          </p:cNvPr>
          <p:cNvSpPr txBox="1"/>
          <p:nvPr/>
        </p:nvSpPr>
        <p:spPr>
          <a:xfrm>
            <a:off x="1334474" y="5542770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Y(t)</a:t>
            </a: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9D3B2E6F-B0B7-AE28-10A5-B2B8E112B9A8}"/>
              </a:ext>
            </a:extLst>
          </p:cNvPr>
          <p:cNvSpPr/>
          <p:nvPr/>
        </p:nvSpPr>
        <p:spPr>
          <a:xfrm>
            <a:off x="5502964" y="3081129"/>
            <a:ext cx="414132" cy="32799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900" baseline="-25000" dirty="0"/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2AED2173-22CF-BB76-186E-D936E9C02A67}"/>
              </a:ext>
            </a:extLst>
          </p:cNvPr>
          <p:cNvSpPr/>
          <p:nvPr/>
        </p:nvSpPr>
        <p:spPr>
          <a:xfrm>
            <a:off x="5526156" y="4918730"/>
            <a:ext cx="414132" cy="32799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900" baseline="-25000" dirty="0"/>
          </a:p>
        </p:txBody>
      </p: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235FDE2C-E348-6548-2041-95E684DED566}"/>
              </a:ext>
            </a:extLst>
          </p:cNvPr>
          <p:cNvCxnSpPr>
            <a:cxnSpLocks/>
            <a:stCxn id="64" idx="6"/>
            <a:endCxn id="66" idx="2"/>
          </p:cNvCxnSpPr>
          <p:nvPr/>
        </p:nvCxnSpPr>
        <p:spPr>
          <a:xfrm flipV="1">
            <a:off x="4851715" y="2539446"/>
            <a:ext cx="651249" cy="7255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DCF73504-7C17-254F-3A32-E8A3B06AADDC}"/>
              </a:ext>
            </a:extLst>
          </p:cNvPr>
          <p:cNvCxnSpPr>
            <a:cxnSpLocks/>
            <a:stCxn id="65" idx="6"/>
            <a:endCxn id="66" idx="2"/>
          </p:cNvCxnSpPr>
          <p:nvPr/>
        </p:nvCxnSpPr>
        <p:spPr>
          <a:xfrm flipV="1">
            <a:off x="4851715" y="2539446"/>
            <a:ext cx="651249" cy="16145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64A2BA50-D3A7-F050-0F54-CACC12E0AB97}"/>
              </a:ext>
            </a:extLst>
          </p:cNvPr>
          <p:cNvCxnSpPr>
            <a:cxnSpLocks/>
            <a:stCxn id="65" idx="6"/>
            <a:endCxn id="68" idx="2"/>
          </p:cNvCxnSpPr>
          <p:nvPr/>
        </p:nvCxnSpPr>
        <p:spPr>
          <a:xfrm flipV="1">
            <a:off x="4851715" y="3245125"/>
            <a:ext cx="651249" cy="908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226E63E9-C3F3-2016-2E5D-846F4892276A}"/>
              </a:ext>
            </a:extLst>
          </p:cNvPr>
          <p:cNvCxnSpPr>
            <a:cxnSpLocks/>
            <a:stCxn id="64" idx="6"/>
            <a:endCxn id="68" idx="2"/>
          </p:cNvCxnSpPr>
          <p:nvPr/>
        </p:nvCxnSpPr>
        <p:spPr>
          <a:xfrm flipV="1">
            <a:off x="4851715" y="3245125"/>
            <a:ext cx="651249" cy="198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A6E1DAB9-8692-CEE6-B48A-9559807E2029}"/>
              </a:ext>
            </a:extLst>
          </p:cNvPr>
          <p:cNvCxnSpPr>
            <a:cxnSpLocks/>
            <a:stCxn id="65" idx="6"/>
            <a:endCxn id="69" idx="2"/>
          </p:cNvCxnSpPr>
          <p:nvPr/>
        </p:nvCxnSpPr>
        <p:spPr>
          <a:xfrm>
            <a:off x="4851715" y="4153986"/>
            <a:ext cx="674441" cy="928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52C1AD00-1B9C-7FD4-F035-6639CF2CCB92}"/>
              </a:ext>
            </a:extLst>
          </p:cNvPr>
          <p:cNvCxnSpPr>
            <a:cxnSpLocks/>
            <a:stCxn id="64" idx="6"/>
            <a:endCxn id="69" idx="2"/>
          </p:cNvCxnSpPr>
          <p:nvPr/>
        </p:nvCxnSpPr>
        <p:spPr>
          <a:xfrm>
            <a:off x="4851715" y="3265004"/>
            <a:ext cx="674441" cy="18177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 : coins arrondis 75">
                <a:extLst>
                  <a:ext uri="{FF2B5EF4-FFF2-40B4-BE49-F238E27FC236}">
                    <a16:creationId xmlns:a16="http://schemas.microsoft.com/office/drawing/2014/main" id="{E152B507-77DC-CCAD-0ECA-6986450E0965}"/>
                  </a:ext>
                </a:extLst>
              </p:cNvPr>
              <p:cNvSpPr/>
              <p:nvPr/>
            </p:nvSpPr>
            <p:spPr>
              <a:xfrm>
                <a:off x="7166113" y="2345634"/>
                <a:ext cx="1412775" cy="298174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Sup>
                                <m:sSubSupPr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</m:sSubSup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Sup>
                                    <m:sSubSup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/>
                                  </m:sSubSup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6" name="Rectangle : coins arrondis 75">
                <a:extLst>
                  <a:ext uri="{FF2B5EF4-FFF2-40B4-BE49-F238E27FC236}">
                    <a16:creationId xmlns:a16="http://schemas.microsoft.com/office/drawing/2014/main" id="{E152B507-77DC-CCAD-0ECA-6986450E0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113" y="2345634"/>
                <a:ext cx="1412775" cy="298174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ZoneTexte 76">
            <a:extLst>
              <a:ext uri="{FF2B5EF4-FFF2-40B4-BE49-F238E27FC236}">
                <a16:creationId xmlns:a16="http://schemas.microsoft.com/office/drawing/2014/main" id="{693F75C1-29BD-B592-7E59-05B2BB66E4FA}"/>
              </a:ext>
            </a:extLst>
          </p:cNvPr>
          <p:cNvSpPr txBox="1"/>
          <p:nvPr/>
        </p:nvSpPr>
        <p:spPr>
          <a:xfrm>
            <a:off x="7396504" y="5542770"/>
            <a:ext cx="9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Softmax</a:t>
            </a:r>
            <a:endParaRPr lang="fr-FR" dirty="0"/>
          </a:p>
        </p:txBody>
      </p:sp>
      <p:cxnSp>
        <p:nvCxnSpPr>
          <p:cNvPr id="78" name="Connecteur droit avec flèche 77">
            <a:extLst>
              <a:ext uri="{FF2B5EF4-FFF2-40B4-BE49-F238E27FC236}">
                <a16:creationId xmlns:a16="http://schemas.microsoft.com/office/drawing/2014/main" id="{C233DA2C-6220-F921-4841-AC26ABF39322}"/>
              </a:ext>
            </a:extLst>
          </p:cNvPr>
          <p:cNvCxnSpPr>
            <a:stCxn id="66" idx="6"/>
          </p:cNvCxnSpPr>
          <p:nvPr/>
        </p:nvCxnSpPr>
        <p:spPr>
          <a:xfrm>
            <a:off x="5917096" y="2539446"/>
            <a:ext cx="12490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E6B5EE17-91C6-2D7C-17D5-4A02EB2DDFE1}"/>
              </a:ext>
            </a:extLst>
          </p:cNvPr>
          <p:cNvCxnSpPr>
            <a:cxnSpLocks/>
            <a:stCxn id="68" idx="6"/>
          </p:cNvCxnSpPr>
          <p:nvPr/>
        </p:nvCxnSpPr>
        <p:spPr>
          <a:xfrm>
            <a:off x="5917096" y="3245125"/>
            <a:ext cx="12258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46A5F029-EEE5-E4E9-5769-D95B8E060852}"/>
              </a:ext>
            </a:extLst>
          </p:cNvPr>
          <p:cNvCxnSpPr>
            <a:cxnSpLocks/>
            <a:stCxn id="69" idx="6"/>
          </p:cNvCxnSpPr>
          <p:nvPr/>
        </p:nvCxnSpPr>
        <p:spPr>
          <a:xfrm>
            <a:off x="5940288" y="5082726"/>
            <a:ext cx="12258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ZoneTexte 80">
            <a:extLst>
              <a:ext uri="{FF2B5EF4-FFF2-40B4-BE49-F238E27FC236}">
                <a16:creationId xmlns:a16="http://schemas.microsoft.com/office/drawing/2014/main" id="{35D589EA-A5CE-BFC7-9E9D-EA99CE4E27EC}"/>
              </a:ext>
            </a:extLst>
          </p:cNvPr>
          <p:cNvSpPr txBox="1"/>
          <p:nvPr/>
        </p:nvSpPr>
        <p:spPr>
          <a:xfrm rot="5400000">
            <a:off x="5500636" y="3979259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 . .</a:t>
            </a:r>
          </a:p>
        </p:txBody>
      </p: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48F58B17-552F-1594-5904-4CFC111D4511}"/>
              </a:ext>
            </a:extLst>
          </p:cNvPr>
          <p:cNvCxnSpPr>
            <a:cxnSpLocks/>
            <a:endCxn id="84" idx="2"/>
          </p:cNvCxnSpPr>
          <p:nvPr/>
        </p:nvCxnSpPr>
        <p:spPr>
          <a:xfrm>
            <a:off x="8618883" y="3261696"/>
            <a:ext cx="13600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lipse 82">
            <a:extLst>
              <a:ext uri="{FF2B5EF4-FFF2-40B4-BE49-F238E27FC236}">
                <a16:creationId xmlns:a16="http://schemas.microsoft.com/office/drawing/2014/main" id="{93C9DCD0-A6F4-BE8A-8B3A-D5B0A00BCE6E}"/>
              </a:ext>
            </a:extLst>
          </p:cNvPr>
          <p:cNvSpPr/>
          <p:nvPr/>
        </p:nvSpPr>
        <p:spPr>
          <a:xfrm>
            <a:off x="9978885" y="2371613"/>
            <a:ext cx="414132" cy="32799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900" baseline="-25000" dirty="0"/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C54532DD-E7CC-C3EF-4C5E-29ACD4A84040}"/>
              </a:ext>
            </a:extLst>
          </p:cNvPr>
          <p:cNvSpPr/>
          <p:nvPr/>
        </p:nvSpPr>
        <p:spPr>
          <a:xfrm>
            <a:off x="9978885" y="3097700"/>
            <a:ext cx="414132" cy="32799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900" baseline="-25000" dirty="0"/>
          </a:p>
        </p:txBody>
      </p:sp>
      <p:sp>
        <p:nvSpPr>
          <p:cNvPr id="85" name="Ellipse 84">
            <a:extLst>
              <a:ext uri="{FF2B5EF4-FFF2-40B4-BE49-F238E27FC236}">
                <a16:creationId xmlns:a16="http://schemas.microsoft.com/office/drawing/2014/main" id="{3ECC45E2-B5A6-4DB8-7710-4AB2F1C7AE6D}"/>
              </a:ext>
            </a:extLst>
          </p:cNvPr>
          <p:cNvSpPr/>
          <p:nvPr/>
        </p:nvSpPr>
        <p:spPr>
          <a:xfrm>
            <a:off x="10039533" y="4918730"/>
            <a:ext cx="414132" cy="32799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900" baseline="-25000" dirty="0"/>
          </a:p>
        </p:txBody>
      </p: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6B8CC289-4B54-29E5-60EB-6CAA50EC1A5C}"/>
              </a:ext>
            </a:extLst>
          </p:cNvPr>
          <p:cNvCxnSpPr>
            <a:cxnSpLocks/>
            <a:endCxn id="83" idx="2"/>
          </p:cNvCxnSpPr>
          <p:nvPr/>
        </p:nvCxnSpPr>
        <p:spPr>
          <a:xfrm>
            <a:off x="8618883" y="2535609"/>
            <a:ext cx="13600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avec flèche 86">
            <a:extLst>
              <a:ext uri="{FF2B5EF4-FFF2-40B4-BE49-F238E27FC236}">
                <a16:creationId xmlns:a16="http://schemas.microsoft.com/office/drawing/2014/main" id="{EF5C05DC-694A-8AA4-0057-3C68AC77CB88}"/>
              </a:ext>
            </a:extLst>
          </p:cNvPr>
          <p:cNvCxnSpPr>
            <a:cxnSpLocks/>
            <a:endCxn id="85" idx="2"/>
          </p:cNvCxnSpPr>
          <p:nvPr/>
        </p:nvCxnSpPr>
        <p:spPr>
          <a:xfrm>
            <a:off x="8618883" y="5082726"/>
            <a:ext cx="1420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ZoneTexte 87">
            <a:extLst>
              <a:ext uri="{FF2B5EF4-FFF2-40B4-BE49-F238E27FC236}">
                <a16:creationId xmlns:a16="http://schemas.microsoft.com/office/drawing/2014/main" id="{C7742F8B-9DBA-FA55-3A63-BFC3A2EDACAE}"/>
              </a:ext>
            </a:extLst>
          </p:cNvPr>
          <p:cNvSpPr txBox="1"/>
          <p:nvPr/>
        </p:nvSpPr>
        <p:spPr>
          <a:xfrm>
            <a:off x="9878132" y="5542770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Y(</a:t>
            </a:r>
            <a:r>
              <a:rPr lang="fr-FR" dirty="0" err="1"/>
              <a:t>t+dt</a:t>
            </a:r>
            <a:r>
              <a:rPr lang="fr-FR" dirty="0"/>
              <a:t>)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C57FCDFB-307C-4B6B-C5C6-C11B6F169634}"/>
              </a:ext>
            </a:extLst>
          </p:cNvPr>
          <p:cNvSpPr txBox="1"/>
          <p:nvPr/>
        </p:nvSpPr>
        <p:spPr>
          <a:xfrm rot="5400000">
            <a:off x="10010243" y="3979259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3279536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FEF7C-3E2E-2227-557B-0B8ADB1C5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>
            <a:extLst>
              <a:ext uri="{FF2B5EF4-FFF2-40B4-BE49-F238E27FC236}">
                <a16:creationId xmlns:a16="http://schemas.microsoft.com/office/drawing/2014/main" id="{6AD3CAC4-B295-F642-65EF-2580A42AA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32" y="0"/>
            <a:ext cx="10863872" cy="514203"/>
          </a:xfrm>
        </p:spPr>
        <p:txBody>
          <a:bodyPr/>
          <a:lstStyle/>
          <a:p>
            <a:r>
              <a:rPr lang="fr-FR" dirty="0" err="1"/>
              <a:t>Adding</a:t>
            </a:r>
            <a:r>
              <a:rPr lang="fr-FR" dirty="0"/>
              <a:t> </a:t>
            </a:r>
            <a:r>
              <a:rPr lang="fr-FR" dirty="0" err="1"/>
              <a:t>physical</a:t>
            </a:r>
            <a:r>
              <a:rPr lang="fr-FR" dirty="0"/>
              <a:t> </a:t>
            </a:r>
            <a:r>
              <a:rPr lang="fr-FR" dirty="0" err="1"/>
              <a:t>constraints</a:t>
            </a:r>
            <a:endParaRPr lang="fr-FR" dirty="0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E9A17574-751F-EFBC-9FB7-AAD54410BF78}"/>
              </a:ext>
            </a:extLst>
          </p:cNvPr>
          <p:cNvSpPr txBox="1">
            <a:spLocks/>
          </p:cNvSpPr>
          <p:nvPr/>
        </p:nvSpPr>
        <p:spPr>
          <a:xfrm>
            <a:off x="241844" y="1108990"/>
            <a:ext cx="11381860" cy="1681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>
                <a:solidFill>
                  <a:srgbClr val="7030A0"/>
                </a:solidFill>
                <a:latin typeface="Calibri" panose="020F0502020204030204" pitchFamily="34" charset="0"/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0070C0"/>
                </a:solidFill>
                <a:latin typeface="Calibri" panose="020F0502020204030204" pitchFamily="34" charset="0"/>
              </a:defRPr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>
                <a:solidFill>
                  <a:srgbClr val="0070C0"/>
                </a:solidFill>
                <a:latin typeface="Calibri" panose="020F0502020204030204" pitchFamily="34" charset="0"/>
              </a:defRPr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>
                <a:solidFill>
                  <a:srgbClr val="0070C0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600">
                <a:solidFill>
                  <a:srgbClr val="0070C0"/>
                </a:solidFill>
                <a:latin typeface="Roboto Light" panose="02000000000000000000" pitchFamily="2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Hard constraints</a:t>
            </a:r>
          </a:p>
          <a:p>
            <a:pPr lvl="1"/>
            <a:r>
              <a:rPr lang="en-US" dirty="0"/>
              <a:t>Problem dependent</a:t>
            </a:r>
          </a:p>
          <a:p>
            <a:pPr lvl="1"/>
            <a:r>
              <a:rPr lang="en-US" dirty="0"/>
              <a:t>Gradient issues </a:t>
            </a:r>
            <a:r>
              <a:rPr lang="en-US" dirty="0">
                <a:sym typeface="Wingdings" panose="05000000000000000000" pitchFamily="2" charset="2"/>
              </a:rPr>
              <a:t> hard to train</a:t>
            </a:r>
            <a:endParaRPr lang="en-US" dirty="0"/>
          </a:p>
          <a:p>
            <a:pPr lvl="1"/>
            <a:endParaRPr lang="en-US" dirty="0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241F84F4-A755-89B2-D287-69FBA1622606}"/>
              </a:ext>
            </a:extLst>
          </p:cNvPr>
          <p:cNvGrpSpPr/>
          <p:nvPr/>
        </p:nvGrpSpPr>
        <p:grpSpPr>
          <a:xfrm>
            <a:off x="1409634" y="2477609"/>
            <a:ext cx="9372731" cy="3566468"/>
            <a:chOff x="1334474" y="2345634"/>
            <a:chExt cx="9372731" cy="3566468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06BF132D-BDDD-56B3-B4D1-C380D89A6BA1}"/>
                </a:ext>
              </a:extLst>
            </p:cNvPr>
            <p:cNvSpPr/>
            <p:nvPr/>
          </p:nvSpPr>
          <p:spPr>
            <a:xfrm>
              <a:off x="1384851" y="2345634"/>
              <a:ext cx="414132" cy="327992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900" dirty="0"/>
                <a:t>Y</a:t>
              </a:r>
              <a:r>
                <a:rPr lang="fr-FR" sz="900" baseline="-25000" dirty="0"/>
                <a:t>1</a:t>
              </a:r>
            </a:p>
          </p:txBody>
        </p:sp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113731EE-89DA-705A-1751-471510CC06CA}"/>
                </a:ext>
              </a:extLst>
            </p:cNvPr>
            <p:cNvSpPr/>
            <p:nvPr/>
          </p:nvSpPr>
          <p:spPr>
            <a:xfrm>
              <a:off x="1384851" y="3061251"/>
              <a:ext cx="414132" cy="327992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900" dirty="0"/>
                <a:t>Y</a:t>
              </a:r>
              <a:r>
                <a:rPr lang="fr-FR" sz="900" baseline="-25000" dirty="0"/>
                <a:t>2</a:t>
              </a:r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2E9D9A7E-50B7-0AC5-1883-D87B63896112}"/>
                </a:ext>
              </a:extLst>
            </p:cNvPr>
            <p:cNvSpPr/>
            <p:nvPr/>
          </p:nvSpPr>
          <p:spPr>
            <a:xfrm>
              <a:off x="1384851" y="4918730"/>
              <a:ext cx="414132" cy="327992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900" dirty="0"/>
                <a:t>Y</a:t>
              </a:r>
              <a:r>
                <a:rPr lang="fr-FR" sz="900" baseline="-25000" dirty="0"/>
                <a:t>N</a:t>
              </a: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BD963C2C-2772-9D92-7BF0-2F92C8E4A1BB}"/>
                </a:ext>
              </a:extLst>
            </p:cNvPr>
            <p:cNvSpPr/>
            <p:nvPr/>
          </p:nvSpPr>
          <p:spPr>
            <a:xfrm>
              <a:off x="3117573" y="2733259"/>
              <a:ext cx="414132" cy="327992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900" baseline="-25000" dirty="0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0D6B746A-92E9-8F95-0CB5-F81A797BD887}"/>
                </a:ext>
              </a:extLst>
            </p:cNvPr>
            <p:cNvSpPr/>
            <p:nvPr/>
          </p:nvSpPr>
          <p:spPr>
            <a:xfrm>
              <a:off x="3117573" y="3488635"/>
              <a:ext cx="414132" cy="327992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900" baseline="-25000" dirty="0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C69590A1-0A00-7D6E-1167-B4C1DCEEB0EE}"/>
                </a:ext>
              </a:extLst>
            </p:cNvPr>
            <p:cNvSpPr/>
            <p:nvPr/>
          </p:nvSpPr>
          <p:spPr>
            <a:xfrm>
              <a:off x="3117573" y="4244011"/>
              <a:ext cx="414132" cy="327992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900" baseline="-25000" dirty="0"/>
            </a:p>
          </p:txBody>
        </p: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85050965-2276-76D6-3B88-1AE805E42B1D}"/>
                </a:ext>
              </a:extLst>
            </p:cNvPr>
            <p:cNvCxnSpPr>
              <a:cxnSpLocks/>
              <a:stCxn id="3" idx="6"/>
              <a:endCxn id="6" idx="2"/>
            </p:cNvCxnSpPr>
            <p:nvPr/>
          </p:nvCxnSpPr>
          <p:spPr>
            <a:xfrm>
              <a:off x="1798983" y="2509630"/>
              <a:ext cx="1318590" cy="3876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FC20E723-8314-E640-2CC3-837552DB2642}"/>
                </a:ext>
              </a:extLst>
            </p:cNvPr>
            <p:cNvCxnSpPr>
              <a:cxnSpLocks/>
              <a:stCxn id="4" idx="6"/>
              <a:endCxn id="6" idx="2"/>
            </p:cNvCxnSpPr>
            <p:nvPr/>
          </p:nvCxnSpPr>
          <p:spPr>
            <a:xfrm flipV="1">
              <a:off x="1798983" y="2897255"/>
              <a:ext cx="1318590" cy="3279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71D8A237-B7E9-5E7F-FE3D-64B90B0275D8}"/>
                </a:ext>
              </a:extLst>
            </p:cNvPr>
            <p:cNvCxnSpPr>
              <a:cxnSpLocks/>
              <a:stCxn id="3" idx="6"/>
              <a:endCxn id="7" idx="2"/>
            </p:cNvCxnSpPr>
            <p:nvPr/>
          </p:nvCxnSpPr>
          <p:spPr>
            <a:xfrm>
              <a:off x="1798983" y="2509630"/>
              <a:ext cx="1318590" cy="11430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8737648B-A72D-1D53-8B6E-40E7A6FD4882}"/>
                </a:ext>
              </a:extLst>
            </p:cNvPr>
            <p:cNvCxnSpPr>
              <a:cxnSpLocks/>
              <a:stCxn id="3" idx="6"/>
              <a:endCxn id="8" idx="2"/>
            </p:cNvCxnSpPr>
            <p:nvPr/>
          </p:nvCxnSpPr>
          <p:spPr>
            <a:xfrm>
              <a:off x="1798983" y="2509630"/>
              <a:ext cx="1318590" cy="189837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AE6E479A-ED77-1196-F75A-5B553955CBD8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1798983" y="3225247"/>
              <a:ext cx="1318590" cy="4273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C170D5A6-0C3B-33A1-597D-CD06C2E15ADA}"/>
                </a:ext>
              </a:extLst>
            </p:cNvPr>
            <p:cNvCxnSpPr>
              <a:cxnSpLocks/>
              <a:stCxn id="4" idx="6"/>
              <a:endCxn id="8" idx="2"/>
            </p:cNvCxnSpPr>
            <p:nvPr/>
          </p:nvCxnSpPr>
          <p:spPr>
            <a:xfrm>
              <a:off x="1798983" y="3225247"/>
              <a:ext cx="1318590" cy="11827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9B081B5E-747B-9D80-CB37-6021081DE060}"/>
                </a:ext>
              </a:extLst>
            </p:cNvPr>
            <p:cNvCxnSpPr>
              <a:cxnSpLocks/>
              <a:stCxn id="5" idx="6"/>
              <a:endCxn id="6" idx="2"/>
            </p:cNvCxnSpPr>
            <p:nvPr/>
          </p:nvCxnSpPr>
          <p:spPr>
            <a:xfrm flipV="1">
              <a:off x="1798983" y="2897255"/>
              <a:ext cx="1318590" cy="21854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AE937C76-D5D8-891B-B6ED-332857722704}"/>
                </a:ext>
              </a:extLst>
            </p:cNvPr>
            <p:cNvCxnSpPr>
              <a:cxnSpLocks/>
              <a:stCxn id="5" idx="5"/>
              <a:endCxn id="7" idx="2"/>
            </p:cNvCxnSpPr>
            <p:nvPr/>
          </p:nvCxnSpPr>
          <p:spPr>
            <a:xfrm flipV="1">
              <a:off x="1738335" y="3652631"/>
              <a:ext cx="1379238" cy="15460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9AFB678F-CA0B-B53C-F7CA-60E343BC97B1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1798983" y="4408007"/>
              <a:ext cx="1318590" cy="6747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05D8A44A-914F-93C4-5A5E-18D6D7AB9B74}"/>
                </a:ext>
              </a:extLst>
            </p:cNvPr>
            <p:cNvSpPr txBox="1"/>
            <p:nvPr/>
          </p:nvSpPr>
          <p:spPr>
            <a:xfrm>
              <a:off x="3856383" y="3389243"/>
              <a:ext cx="463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. . .</a:t>
              </a:r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BC1F2609-ED57-E4F5-933F-D8FDF59615C6}"/>
                </a:ext>
              </a:extLst>
            </p:cNvPr>
            <p:cNvSpPr txBox="1"/>
            <p:nvPr/>
          </p:nvSpPr>
          <p:spPr>
            <a:xfrm rot="5400000">
              <a:off x="1431596" y="3896415"/>
              <a:ext cx="463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. . .</a:t>
              </a:r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D7A0A4A9-7E10-F27C-1D8C-C804EF8C0DEF}"/>
                </a:ext>
              </a:extLst>
            </p:cNvPr>
            <p:cNvSpPr/>
            <p:nvPr/>
          </p:nvSpPr>
          <p:spPr>
            <a:xfrm>
              <a:off x="4437583" y="3101008"/>
              <a:ext cx="414132" cy="327992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900" baseline="-25000" dirty="0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FB330DE4-D53E-DB47-AE3C-CA09B4099AA8}"/>
                </a:ext>
              </a:extLst>
            </p:cNvPr>
            <p:cNvSpPr/>
            <p:nvPr/>
          </p:nvSpPr>
          <p:spPr>
            <a:xfrm>
              <a:off x="4437583" y="3989990"/>
              <a:ext cx="414132" cy="327992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900" baseline="-25000" dirty="0"/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6A1C27C4-0E42-3855-351B-30463A3BB11F}"/>
                </a:ext>
              </a:extLst>
            </p:cNvPr>
            <p:cNvSpPr/>
            <p:nvPr/>
          </p:nvSpPr>
          <p:spPr>
            <a:xfrm>
              <a:off x="5502964" y="2375450"/>
              <a:ext cx="414132" cy="327992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900" baseline="-25000" dirty="0"/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348C306D-7AF7-BACD-D809-2FCBCAFB6E38}"/>
                </a:ext>
              </a:extLst>
            </p:cNvPr>
            <p:cNvSpPr txBox="1"/>
            <p:nvPr/>
          </p:nvSpPr>
          <p:spPr>
            <a:xfrm>
              <a:off x="1334474" y="5542770"/>
              <a:ext cx="5148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Y(t)</a:t>
              </a:r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EFD119B7-0653-F48C-41B5-3A92D7744DA0}"/>
                </a:ext>
              </a:extLst>
            </p:cNvPr>
            <p:cNvSpPr/>
            <p:nvPr/>
          </p:nvSpPr>
          <p:spPr>
            <a:xfrm>
              <a:off x="5502964" y="3081129"/>
              <a:ext cx="414132" cy="327992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900" baseline="-25000" dirty="0"/>
            </a:p>
          </p:txBody>
        </p: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400ACE0A-2BB8-A61A-5188-A32B5966D622}"/>
                </a:ext>
              </a:extLst>
            </p:cNvPr>
            <p:cNvSpPr/>
            <p:nvPr/>
          </p:nvSpPr>
          <p:spPr>
            <a:xfrm>
              <a:off x="5526156" y="4918730"/>
              <a:ext cx="414132" cy="327992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900" baseline="-25000" dirty="0"/>
            </a:p>
          </p:txBody>
        </p: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DD77F4B4-5854-37C8-1175-8F29C9690830}"/>
                </a:ext>
              </a:extLst>
            </p:cNvPr>
            <p:cNvCxnSpPr>
              <a:cxnSpLocks/>
              <a:stCxn id="22" idx="6"/>
              <a:endCxn id="24" idx="2"/>
            </p:cNvCxnSpPr>
            <p:nvPr/>
          </p:nvCxnSpPr>
          <p:spPr>
            <a:xfrm flipV="1">
              <a:off x="4851715" y="2539446"/>
              <a:ext cx="651249" cy="7255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 droit 28">
              <a:extLst>
                <a:ext uri="{FF2B5EF4-FFF2-40B4-BE49-F238E27FC236}">
                  <a16:creationId xmlns:a16="http://schemas.microsoft.com/office/drawing/2014/main" id="{CD497AC3-E041-032D-1FE4-A01C71899368}"/>
                </a:ext>
              </a:extLst>
            </p:cNvPr>
            <p:cNvCxnSpPr>
              <a:cxnSpLocks/>
              <a:stCxn id="23" idx="6"/>
              <a:endCxn id="24" idx="2"/>
            </p:cNvCxnSpPr>
            <p:nvPr/>
          </p:nvCxnSpPr>
          <p:spPr>
            <a:xfrm flipV="1">
              <a:off x="4851715" y="2539446"/>
              <a:ext cx="651249" cy="16145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29">
              <a:extLst>
                <a:ext uri="{FF2B5EF4-FFF2-40B4-BE49-F238E27FC236}">
                  <a16:creationId xmlns:a16="http://schemas.microsoft.com/office/drawing/2014/main" id="{5A3841CA-FC54-E093-6F70-1F58C2726F8E}"/>
                </a:ext>
              </a:extLst>
            </p:cNvPr>
            <p:cNvCxnSpPr>
              <a:cxnSpLocks/>
              <a:stCxn id="23" idx="6"/>
              <a:endCxn id="26" idx="2"/>
            </p:cNvCxnSpPr>
            <p:nvPr/>
          </p:nvCxnSpPr>
          <p:spPr>
            <a:xfrm flipV="1">
              <a:off x="4851715" y="3245125"/>
              <a:ext cx="651249" cy="9088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74188497-0E75-98E1-4FEA-F766794F88F5}"/>
                </a:ext>
              </a:extLst>
            </p:cNvPr>
            <p:cNvCxnSpPr>
              <a:cxnSpLocks/>
              <a:stCxn id="22" idx="6"/>
              <a:endCxn id="26" idx="2"/>
            </p:cNvCxnSpPr>
            <p:nvPr/>
          </p:nvCxnSpPr>
          <p:spPr>
            <a:xfrm flipV="1">
              <a:off x="4851715" y="3245125"/>
              <a:ext cx="651249" cy="198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0AE3C6DC-A22B-EB44-557B-15376BE3D66E}"/>
                </a:ext>
              </a:extLst>
            </p:cNvPr>
            <p:cNvCxnSpPr>
              <a:cxnSpLocks/>
              <a:stCxn id="23" idx="6"/>
              <a:endCxn id="27" idx="2"/>
            </p:cNvCxnSpPr>
            <p:nvPr/>
          </p:nvCxnSpPr>
          <p:spPr>
            <a:xfrm>
              <a:off x="4851715" y="4153986"/>
              <a:ext cx="674441" cy="928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F0E7D8CE-48D5-5D91-5914-14C79BDF366F}"/>
                </a:ext>
              </a:extLst>
            </p:cNvPr>
            <p:cNvCxnSpPr>
              <a:cxnSpLocks/>
              <a:stCxn id="22" idx="6"/>
              <a:endCxn id="27" idx="2"/>
            </p:cNvCxnSpPr>
            <p:nvPr/>
          </p:nvCxnSpPr>
          <p:spPr>
            <a:xfrm>
              <a:off x="4851715" y="3265004"/>
              <a:ext cx="674441" cy="18177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 : coins arrondis 33">
              <a:extLst>
                <a:ext uri="{FF2B5EF4-FFF2-40B4-BE49-F238E27FC236}">
                  <a16:creationId xmlns:a16="http://schemas.microsoft.com/office/drawing/2014/main" id="{98780016-AE68-D227-7DC3-A23F74AA66E0}"/>
                </a:ext>
              </a:extLst>
            </p:cNvPr>
            <p:cNvSpPr/>
            <p:nvPr/>
          </p:nvSpPr>
          <p:spPr>
            <a:xfrm>
              <a:off x="7166113" y="2345634"/>
              <a:ext cx="1412775" cy="298174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Projection on </a:t>
              </a:r>
              <a:r>
                <a:rPr lang="fr-FR" dirty="0" err="1"/>
                <a:t>linear</a:t>
              </a:r>
              <a:r>
                <a:rPr lang="fr-FR" dirty="0"/>
                <a:t> </a:t>
              </a:r>
              <a:r>
                <a:rPr lang="fr-FR" dirty="0" err="1"/>
                <a:t>subspace</a:t>
              </a:r>
              <a:endParaRPr lang="fr-FR" dirty="0"/>
            </a:p>
          </p:txBody>
        </p:sp>
        <p:cxnSp>
          <p:nvCxnSpPr>
            <p:cNvPr id="35" name="Connecteur droit avec flèche 34">
              <a:extLst>
                <a:ext uri="{FF2B5EF4-FFF2-40B4-BE49-F238E27FC236}">
                  <a16:creationId xmlns:a16="http://schemas.microsoft.com/office/drawing/2014/main" id="{25F01025-E49A-0A74-D59F-038B2E56DD9D}"/>
                </a:ext>
              </a:extLst>
            </p:cNvPr>
            <p:cNvCxnSpPr>
              <a:stCxn id="24" idx="6"/>
            </p:cNvCxnSpPr>
            <p:nvPr/>
          </p:nvCxnSpPr>
          <p:spPr>
            <a:xfrm>
              <a:off x="5917096" y="2539446"/>
              <a:ext cx="12490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avec flèche 35">
              <a:extLst>
                <a:ext uri="{FF2B5EF4-FFF2-40B4-BE49-F238E27FC236}">
                  <a16:creationId xmlns:a16="http://schemas.microsoft.com/office/drawing/2014/main" id="{C0C30461-BFCE-FD6C-23FE-E20C75A97564}"/>
                </a:ext>
              </a:extLst>
            </p:cNvPr>
            <p:cNvCxnSpPr>
              <a:cxnSpLocks/>
              <a:stCxn id="26" idx="6"/>
            </p:cNvCxnSpPr>
            <p:nvPr/>
          </p:nvCxnSpPr>
          <p:spPr>
            <a:xfrm>
              <a:off x="5917096" y="3245125"/>
              <a:ext cx="12258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avec flèche 36">
              <a:extLst>
                <a:ext uri="{FF2B5EF4-FFF2-40B4-BE49-F238E27FC236}">
                  <a16:creationId xmlns:a16="http://schemas.microsoft.com/office/drawing/2014/main" id="{9A5E45EC-F704-909B-085C-1DBE27F298F5}"/>
                </a:ext>
              </a:extLst>
            </p:cNvPr>
            <p:cNvCxnSpPr>
              <a:cxnSpLocks/>
              <a:stCxn id="27" idx="6"/>
            </p:cNvCxnSpPr>
            <p:nvPr/>
          </p:nvCxnSpPr>
          <p:spPr>
            <a:xfrm>
              <a:off x="5940288" y="5082726"/>
              <a:ext cx="12258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5FBD319E-E516-6447-3D7C-AEBA0738CD49}"/>
                </a:ext>
              </a:extLst>
            </p:cNvPr>
            <p:cNvSpPr txBox="1"/>
            <p:nvPr/>
          </p:nvSpPr>
          <p:spPr>
            <a:xfrm rot="5400000">
              <a:off x="5500636" y="3979259"/>
              <a:ext cx="463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. . .</a:t>
              </a:r>
            </a:p>
          </p:txBody>
        </p:sp>
        <p:cxnSp>
          <p:nvCxnSpPr>
            <p:cNvPr id="39" name="Connecteur droit avec flèche 38">
              <a:extLst>
                <a:ext uri="{FF2B5EF4-FFF2-40B4-BE49-F238E27FC236}">
                  <a16:creationId xmlns:a16="http://schemas.microsoft.com/office/drawing/2014/main" id="{E7C0DBE2-DE99-A7FA-42F4-DE25C5B976D2}"/>
                </a:ext>
              </a:extLst>
            </p:cNvPr>
            <p:cNvCxnSpPr>
              <a:cxnSpLocks/>
              <a:endCxn id="41" idx="2"/>
            </p:cNvCxnSpPr>
            <p:nvPr/>
          </p:nvCxnSpPr>
          <p:spPr>
            <a:xfrm>
              <a:off x="8618883" y="3261696"/>
              <a:ext cx="136000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17F4DD8C-EAD4-DB51-0A37-F44A3E2C5C55}"/>
                </a:ext>
              </a:extLst>
            </p:cNvPr>
            <p:cNvSpPr/>
            <p:nvPr/>
          </p:nvSpPr>
          <p:spPr>
            <a:xfrm>
              <a:off x="9978885" y="2371613"/>
              <a:ext cx="414132" cy="327992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900" baseline="-25000" dirty="0"/>
            </a:p>
          </p:txBody>
        </p:sp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D0A357B0-0184-440F-64FC-8F0FAD6364B9}"/>
                </a:ext>
              </a:extLst>
            </p:cNvPr>
            <p:cNvSpPr/>
            <p:nvPr/>
          </p:nvSpPr>
          <p:spPr>
            <a:xfrm>
              <a:off x="9978885" y="3097700"/>
              <a:ext cx="414132" cy="327992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900" baseline="-25000" dirty="0"/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4BCD73A7-B670-7C01-EEE4-165F3AAF5A89}"/>
                </a:ext>
              </a:extLst>
            </p:cNvPr>
            <p:cNvSpPr/>
            <p:nvPr/>
          </p:nvSpPr>
          <p:spPr>
            <a:xfrm>
              <a:off x="10039533" y="4918730"/>
              <a:ext cx="414132" cy="327992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900" baseline="-25000" dirty="0"/>
            </a:p>
          </p:txBody>
        </p:sp>
        <p:cxnSp>
          <p:nvCxnSpPr>
            <p:cNvPr id="43" name="Connecteur droit avec flèche 42">
              <a:extLst>
                <a:ext uri="{FF2B5EF4-FFF2-40B4-BE49-F238E27FC236}">
                  <a16:creationId xmlns:a16="http://schemas.microsoft.com/office/drawing/2014/main" id="{290E62F7-BBAD-BF57-AF32-FCF2E511C9EA}"/>
                </a:ext>
              </a:extLst>
            </p:cNvPr>
            <p:cNvCxnSpPr>
              <a:cxnSpLocks/>
              <a:endCxn id="40" idx="2"/>
            </p:cNvCxnSpPr>
            <p:nvPr/>
          </p:nvCxnSpPr>
          <p:spPr>
            <a:xfrm>
              <a:off x="8618883" y="2535609"/>
              <a:ext cx="136000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eur droit avec flèche 43">
              <a:extLst>
                <a:ext uri="{FF2B5EF4-FFF2-40B4-BE49-F238E27FC236}">
                  <a16:creationId xmlns:a16="http://schemas.microsoft.com/office/drawing/2014/main" id="{AD5414E7-EE71-FC95-A1B5-4F558D6DA1B9}"/>
                </a:ext>
              </a:extLst>
            </p:cNvPr>
            <p:cNvCxnSpPr>
              <a:cxnSpLocks/>
              <a:endCxn id="42" idx="2"/>
            </p:cNvCxnSpPr>
            <p:nvPr/>
          </p:nvCxnSpPr>
          <p:spPr>
            <a:xfrm>
              <a:off x="8618883" y="5082726"/>
              <a:ext cx="14206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3B66126B-48F8-FD62-582E-60282B0E56D4}"/>
                </a:ext>
              </a:extLst>
            </p:cNvPr>
            <p:cNvSpPr txBox="1"/>
            <p:nvPr/>
          </p:nvSpPr>
          <p:spPr>
            <a:xfrm>
              <a:off x="9878132" y="5542770"/>
              <a:ext cx="829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Y(</a:t>
              </a:r>
              <a:r>
                <a:rPr lang="fr-FR" dirty="0" err="1"/>
                <a:t>t+dt</a:t>
              </a:r>
              <a:r>
                <a:rPr lang="fr-FR" dirty="0"/>
                <a:t>)</a:t>
              </a:r>
            </a:p>
          </p:txBody>
        </p:sp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114E8C78-DC00-7284-EA7D-F9FEBD1C13BC}"/>
                </a:ext>
              </a:extLst>
            </p:cNvPr>
            <p:cNvSpPr txBox="1"/>
            <p:nvPr/>
          </p:nvSpPr>
          <p:spPr>
            <a:xfrm rot="5400000">
              <a:off x="10010243" y="3979259"/>
              <a:ext cx="463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. . 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904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/>
          <p:cNvSpPr txBox="1"/>
          <p:nvPr/>
        </p:nvSpPr>
        <p:spPr>
          <a:xfrm>
            <a:off x="838199" y="1375165"/>
            <a:ext cx="10388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fr-FR" sz="2000" dirty="0">
              <a:solidFill>
                <a:srgbClr val="006AB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51D154DA-8DA5-593F-D348-D6C180286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553" y="2902916"/>
            <a:ext cx="4600575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E20C125B-77AF-AE6F-5F07-7ACBA334BFF9}"/>
              </a:ext>
            </a:extLst>
          </p:cNvPr>
          <p:cNvSpPr txBox="1"/>
          <p:nvPr/>
        </p:nvSpPr>
        <p:spPr>
          <a:xfrm>
            <a:off x="7511228" y="4407866"/>
            <a:ext cx="41512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Conservation of </a:t>
            </a:r>
            <a:r>
              <a:rPr lang="fr-FR" sz="1000" dirty="0" err="1">
                <a:latin typeface="Arial" panose="020B0604020202020204" pitchFamily="34" charset="0"/>
                <a:cs typeface="Arial" panose="020B0604020202020204" pitchFamily="34" charset="0"/>
              </a:rPr>
              <a:t>hydrogen</a:t>
            </a:r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 mass </a:t>
            </a:r>
            <a:r>
              <a:rPr lang="fr-FR" sz="1000" dirty="0" err="1">
                <a:latin typeface="Arial" panose="020B0604020202020204" pitchFamily="34" charset="0"/>
                <a:cs typeface="Arial" panose="020B0604020202020204" pitchFamily="34" charset="0"/>
              </a:rPr>
              <a:t>without</a:t>
            </a:r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fr-FR" sz="1000" dirty="0" err="1">
                <a:latin typeface="Arial" panose="020B0604020202020204" pitchFamily="34" charset="0"/>
                <a:cs typeface="Arial" panose="020B0604020202020204" pitchFamily="34" charset="0"/>
              </a:rPr>
              <a:t>left</a:t>
            </a:r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) and </a:t>
            </a:r>
            <a:r>
              <a:rPr lang="fr-FR" sz="1000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 (right) network </a:t>
            </a:r>
            <a:r>
              <a:rPr lang="fr-FR" sz="1000" dirty="0" err="1">
                <a:latin typeface="Arial" panose="020B0604020202020204" pitchFamily="34" charset="0"/>
                <a:cs typeface="Arial" panose="020B0604020202020204" pitchFamily="34" charset="0"/>
              </a:rPr>
              <a:t>enforced</a:t>
            </a:r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 mass conservation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E5A0A99D-F5B9-2C25-DE71-89290D93D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865" y="943432"/>
            <a:ext cx="4600575" cy="569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0FAED82-BBAA-D078-F605-1584A736B422}"/>
              </a:ext>
            </a:extLst>
          </p:cNvPr>
          <p:cNvSpPr txBox="1"/>
          <p:nvPr/>
        </p:nvSpPr>
        <p:spPr>
          <a:xfrm>
            <a:off x="3692946" y="6488668"/>
            <a:ext cx="1970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Cédric </a:t>
            </a:r>
            <a:r>
              <a:rPr lang="fr-FR" dirty="0" err="1"/>
              <a:t>Mehl</a:t>
            </a:r>
            <a:r>
              <a:rPr lang="fr-FR" dirty="0"/>
              <a:t>, IFPEN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70734671-D2FF-4D78-3B00-1F18D1C60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32" y="0"/>
            <a:ext cx="10863872" cy="514203"/>
          </a:xfrm>
        </p:spPr>
        <p:txBody>
          <a:bodyPr/>
          <a:lstStyle/>
          <a:p>
            <a:r>
              <a:rPr lang="fr-FR" dirty="0" err="1"/>
              <a:t>Adding</a:t>
            </a:r>
            <a:r>
              <a:rPr lang="fr-FR" dirty="0"/>
              <a:t> </a:t>
            </a:r>
            <a:r>
              <a:rPr lang="fr-FR" dirty="0" err="1"/>
              <a:t>physical</a:t>
            </a:r>
            <a:r>
              <a:rPr lang="fr-FR" dirty="0"/>
              <a:t> </a:t>
            </a:r>
            <a:r>
              <a:rPr lang="fr-FR" dirty="0" err="1"/>
              <a:t>constraints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9017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/>
          <p:cNvSpPr txBox="1"/>
          <p:nvPr/>
        </p:nvSpPr>
        <p:spPr>
          <a:xfrm>
            <a:off x="838199" y="1375165"/>
            <a:ext cx="10388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err="1">
                <a:solidFill>
                  <a:srgbClr val="006A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fr-FR" sz="2000" dirty="0">
              <a:solidFill>
                <a:srgbClr val="006AB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2EDB33FD-90D0-731F-4BDD-34BFBD8A2B94}"/>
              </a:ext>
            </a:extLst>
          </p:cNvPr>
          <p:cNvGrpSpPr/>
          <p:nvPr/>
        </p:nvGrpSpPr>
        <p:grpSpPr>
          <a:xfrm>
            <a:off x="1335606" y="1879787"/>
            <a:ext cx="9891194" cy="4680000"/>
            <a:chOff x="1360145" y="1343074"/>
            <a:chExt cx="9891194" cy="4680000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4431B749-52F3-FC10-A3D8-50015CCAF3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088"/>
            <a:stretch/>
          </p:blipFill>
          <p:spPr>
            <a:xfrm>
              <a:off x="9415130" y="1924258"/>
              <a:ext cx="1836209" cy="3960000"/>
            </a:xfrm>
            <a:prstGeom prst="rect">
              <a:avLst/>
            </a:prstGeom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58592E93-CE2D-EDB0-3504-D4D7880A5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0145" y="1343074"/>
              <a:ext cx="8189296" cy="4680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9A0551D-D993-E248-54BE-FBC99750AF10}"/>
              </a:ext>
            </a:extLst>
          </p:cNvPr>
          <p:cNvSpPr/>
          <p:nvPr/>
        </p:nvSpPr>
        <p:spPr>
          <a:xfrm>
            <a:off x="8204043" y="5418656"/>
            <a:ext cx="200375" cy="19840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FB51A7-F122-7D06-A127-9BDAFACD0A57}"/>
              </a:ext>
            </a:extLst>
          </p:cNvPr>
          <p:cNvSpPr/>
          <p:nvPr/>
        </p:nvSpPr>
        <p:spPr>
          <a:xfrm>
            <a:off x="8171045" y="2977067"/>
            <a:ext cx="200375" cy="19840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3D1AA2-D905-1F3C-CF51-FE518C8C5FB7}"/>
              </a:ext>
            </a:extLst>
          </p:cNvPr>
          <p:cNvSpPr/>
          <p:nvPr/>
        </p:nvSpPr>
        <p:spPr>
          <a:xfrm>
            <a:off x="6446440" y="2940935"/>
            <a:ext cx="200375" cy="19840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8C799A-13FE-0C60-C680-77F39B592837}"/>
              </a:ext>
            </a:extLst>
          </p:cNvPr>
          <p:cNvSpPr/>
          <p:nvPr/>
        </p:nvSpPr>
        <p:spPr>
          <a:xfrm>
            <a:off x="6446440" y="5418656"/>
            <a:ext cx="200375" cy="19840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AB3AAB-B629-0046-70EB-FBBBD90D93AF}"/>
              </a:ext>
            </a:extLst>
          </p:cNvPr>
          <p:cNvSpPr/>
          <p:nvPr/>
        </p:nvSpPr>
        <p:spPr>
          <a:xfrm>
            <a:off x="4634022" y="3509230"/>
            <a:ext cx="200375" cy="19840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4DE765-A043-683A-503B-DE045B9E4901}"/>
              </a:ext>
            </a:extLst>
          </p:cNvPr>
          <p:cNvSpPr/>
          <p:nvPr/>
        </p:nvSpPr>
        <p:spPr>
          <a:xfrm>
            <a:off x="4634022" y="5978411"/>
            <a:ext cx="200375" cy="198409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C5CD42C-BC5D-E263-325C-7AA1678374E5}"/>
              </a:ext>
            </a:extLst>
          </p:cNvPr>
          <p:cNvSpPr txBox="1"/>
          <p:nvPr/>
        </p:nvSpPr>
        <p:spPr>
          <a:xfrm>
            <a:off x="4734209" y="6488668"/>
            <a:ext cx="1970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Cédric </a:t>
            </a:r>
            <a:r>
              <a:rPr lang="fr-FR" dirty="0" err="1"/>
              <a:t>Mehl</a:t>
            </a:r>
            <a:r>
              <a:rPr lang="fr-FR" dirty="0"/>
              <a:t>, IFPEN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6CCFE3FA-6E27-3FD7-82A7-17CB74556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32" y="0"/>
            <a:ext cx="10863872" cy="514203"/>
          </a:xfrm>
        </p:spPr>
        <p:txBody>
          <a:bodyPr/>
          <a:lstStyle/>
          <a:p>
            <a:r>
              <a:rPr lang="fr-FR" dirty="0" err="1"/>
              <a:t>Adding</a:t>
            </a:r>
            <a:r>
              <a:rPr lang="fr-FR" dirty="0"/>
              <a:t> </a:t>
            </a:r>
            <a:r>
              <a:rPr lang="fr-FR" dirty="0" err="1"/>
              <a:t>physical</a:t>
            </a:r>
            <a:r>
              <a:rPr lang="fr-FR" dirty="0"/>
              <a:t> </a:t>
            </a:r>
            <a:r>
              <a:rPr lang="fr-FR" dirty="0" err="1"/>
              <a:t>constraints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64435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2D17F-29A3-12D3-59CF-D79E5B482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BF6DFE81-0921-41A7-3978-F6DC81EA9C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8265" y="2500876"/>
            <a:ext cx="11682615" cy="1177745"/>
          </a:xfrm>
        </p:spPr>
        <p:txBody>
          <a:bodyPr>
            <a:noAutofit/>
          </a:bodyPr>
          <a:lstStyle/>
          <a:p>
            <a:r>
              <a:rPr lang="fr-FR" sz="2400" b="1" dirty="0">
                <a:solidFill>
                  <a:srgbClr val="009999"/>
                </a:solidFill>
              </a:rPr>
              <a:t>Challenges</a:t>
            </a:r>
          </a:p>
        </p:txBody>
      </p:sp>
    </p:spTree>
    <p:extLst>
      <p:ext uri="{BB962C8B-B14F-4D97-AF65-F5344CB8AC3E}">
        <p14:creationId xmlns:p14="http://schemas.microsoft.com/office/powerpoint/2010/main" val="32937042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94D0D-2100-EAEE-1BB5-6D2516C7B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659E7CF1-658F-DCED-AA08-9398E64FE773}"/>
              </a:ext>
            </a:extLst>
          </p:cNvPr>
          <p:cNvSpPr txBox="1">
            <a:spLocks/>
          </p:cNvSpPr>
          <p:nvPr/>
        </p:nvSpPr>
        <p:spPr>
          <a:xfrm>
            <a:off x="241844" y="1113589"/>
            <a:ext cx="11381860" cy="574441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fr-FR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>
                <a:solidFill>
                  <a:srgbClr val="7030A0"/>
                </a:solidFill>
                <a:latin typeface="Calibri" panose="020F0502020204030204" pitchFamily="34" charset="0"/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0070C0"/>
                </a:solidFill>
                <a:latin typeface="Calibri" panose="020F0502020204030204" pitchFamily="34" charset="0"/>
              </a:defRPr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>
                <a:solidFill>
                  <a:srgbClr val="0070C0"/>
                </a:solidFill>
                <a:latin typeface="Calibri" panose="020F0502020204030204" pitchFamily="34" charset="0"/>
              </a:defRPr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>
                <a:solidFill>
                  <a:srgbClr val="0070C0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600">
                <a:solidFill>
                  <a:srgbClr val="0070C0"/>
                </a:solidFill>
                <a:latin typeface="Roboto Light" panose="02000000000000000000" pitchFamily="2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fr-FR" dirty="0" err="1"/>
              <a:t>Numerical</a:t>
            </a:r>
            <a:r>
              <a:rPr lang="fr-FR" dirty="0"/>
              <a:t> challenges</a:t>
            </a:r>
          </a:p>
          <a:p>
            <a:pPr lvl="1"/>
            <a:r>
              <a:rPr lang="fr-FR" dirty="0" err="1"/>
              <a:t>Precision</a:t>
            </a:r>
            <a:r>
              <a:rPr lang="fr-FR" dirty="0"/>
              <a:t> and </a:t>
            </a:r>
            <a:r>
              <a:rPr lang="en-US" dirty="0"/>
              <a:t>Stability</a:t>
            </a:r>
          </a:p>
          <a:p>
            <a:pPr lvl="2"/>
            <a:r>
              <a:rPr lang="en-US" dirty="0"/>
              <a:t>Intrusive models</a:t>
            </a:r>
          </a:p>
          <a:p>
            <a:pPr lvl="2"/>
            <a:r>
              <a:rPr lang="en-US" dirty="0"/>
              <a:t>Physics informed models</a:t>
            </a:r>
          </a:p>
          <a:p>
            <a:pPr lvl="2"/>
            <a:r>
              <a:rPr lang="en-US" dirty="0"/>
              <a:t>Sampling</a:t>
            </a:r>
          </a:p>
          <a:p>
            <a:pPr lvl="2"/>
            <a:r>
              <a:rPr lang="en-US" dirty="0"/>
              <a:t>UQ</a:t>
            </a:r>
          </a:p>
          <a:p>
            <a:pPr lvl="2"/>
            <a:r>
              <a:rPr lang="en-US" dirty="0"/>
              <a:t>Mixed precision integration</a:t>
            </a:r>
          </a:p>
          <a:p>
            <a:pPr lvl="2"/>
            <a:r>
              <a:rPr lang="en-US" dirty="0"/>
              <a:t>Learn over PDE trajectories</a:t>
            </a:r>
          </a:p>
          <a:p>
            <a:pPr lvl="1"/>
            <a:r>
              <a:rPr lang="en-US" dirty="0" err="1"/>
              <a:t>Generalisation</a:t>
            </a:r>
            <a:endParaRPr lang="en-US" dirty="0"/>
          </a:p>
          <a:p>
            <a:pPr lvl="2"/>
            <a:r>
              <a:rPr lang="en-US" dirty="0"/>
              <a:t>One model to rule several chemical systems</a:t>
            </a:r>
          </a:p>
          <a:p>
            <a:pPr lvl="2"/>
            <a:r>
              <a:rPr lang="en-US" dirty="0" err="1"/>
              <a:t>Fondational</a:t>
            </a:r>
            <a:r>
              <a:rPr lang="en-US" dirty="0"/>
              <a:t> models</a:t>
            </a:r>
          </a:p>
          <a:p>
            <a:pPr marL="914400" lvl="2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Computational challenges</a:t>
            </a:r>
          </a:p>
          <a:p>
            <a:pPr lvl="1"/>
            <a:r>
              <a:rPr lang="en-US" dirty="0"/>
              <a:t>Online Learning</a:t>
            </a:r>
          </a:p>
          <a:p>
            <a:pPr lvl="1"/>
            <a:r>
              <a:rPr lang="en-US" dirty="0"/>
              <a:t>Low latency inference</a:t>
            </a:r>
          </a:p>
          <a:p>
            <a:pPr lvl="1"/>
            <a:r>
              <a:rPr lang="en-US" dirty="0"/>
              <a:t>Revisiting the performance / accuracy trade-off</a:t>
            </a:r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12BB2CA4-A3F9-4216-31C2-4930E98C5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32" y="0"/>
            <a:ext cx="10863872" cy="514203"/>
          </a:xfrm>
        </p:spPr>
        <p:txBody>
          <a:bodyPr/>
          <a:lstStyle/>
          <a:p>
            <a:r>
              <a:rPr lang="fr-FR" dirty="0"/>
              <a:t>Challenges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hybrid</a:t>
            </a:r>
            <a:r>
              <a:rPr lang="fr-FR" dirty="0"/>
              <a:t> ML / HPC </a:t>
            </a:r>
            <a:r>
              <a:rPr lang="fr-FR" dirty="0" err="1"/>
              <a:t>solvers</a:t>
            </a:r>
            <a:r>
              <a:rPr lang="fr-FR" dirty="0"/>
              <a:t> for </a:t>
            </a:r>
            <a:r>
              <a:rPr lang="fr-FR" dirty="0" err="1"/>
              <a:t>reactive</a:t>
            </a:r>
            <a:r>
              <a:rPr lang="fr-FR" dirty="0"/>
              <a:t> transport </a:t>
            </a:r>
          </a:p>
        </p:txBody>
      </p:sp>
    </p:spTree>
    <p:extLst>
      <p:ext uri="{BB962C8B-B14F-4D97-AF65-F5344CB8AC3E}">
        <p14:creationId xmlns:p14="http://schemas.microsoft.com/office/powerpoint/2010/main" val="13884129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2A060-BC1C-6F8D-CB9F-F7825CB60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979C1E10-CFA8-5109-75EA-A30A4C939BA8}"/>
              </a:ext>
            </a:extLst>
          </p:cNvPr>
          <p:cNvSpPr txBox="1">
            <a:spLocks/>
          </p:cNvSpPr>
          <p:nvPr/>
        </p:nvSpPr>
        <p:spPr>
          <a:xfrm>
            <a:off x="241844" y="1113589"/>
            <a:ext cx="11381860" cy="5744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>
                <a:solidFill>
                  <a:srgbClr val="7030A0"/>
                </a:solidFill>
                <a:latin typeface="Calibri" panose="020F0502020204030204" pitchFamily="34" charset="0"/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>
                <a:solidFill>
                  <a:srgbClr val="0070C0"/>
                </a:solidFill>
                <a:latin typeface="Calibri" panose="020F0502020204030204" pitchFamily="34" charset="0"/>
              </a:defRPr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>
                <a:solidFill>
                  <a:srgbClr val="0070C0"/>
                </a:solidFill>
                <a:latin typeface="Calibri" panose="020F0502020204030204" pitchFamily="34" charset="0"/>
              </a:defRPr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>
                <a:solidFill>
                  <a:srgbClr val="0070C0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600">
                <a:solidFill>
                  <a:srgbClr val="0070C0"/>
                </a:solidFill>
                <a:latin typeface="Roboto Light" panose="02000000000000000000" pitchFamily="2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fr-FR" dirty="0" err="1"/>
              <a:t>Stability</a:t>
            </a:r>
            <a:endParaRPr lang="fr-FR" dirty="0"/>
          </a:p>
          <a:p>
            <a:pPr lvl="1"/>
            <a:r>
              <a:rPr lang="fr-FR" dirty="0"/>
              <a:t>A posteriori (</a:t>
            </a:r>
            <a:r>
              <a:rPr lang="fr-FR" dirty="0" err="1"/>
              <a:t>trajectory</a:t>
            </a:r>
            <a:r>
              <a:rPr lang="fr-FR" dirty="0"/>
              <a:t>) </a:t>
            </a:r>
            <a:r>
              <a:rPr lang="fr-FR" dirty="0" err="1"/>
              <a:t>learning</a:t>
            </a:r>
            <a:endParaRPr lang="fr-FR" dirty="0"/>
          </a:p>
          <a:p>
            <a:pPr lvl="1"/>
            <a:r>
              <a:rPr lang="fr-FR" dirty="0" err="1"/>
              <a:t>Problem</a:t>
            </a:r>
            <a:r>
              <a:rPr lang="fr-FR" dirty="0"/>
              <a:t> </a:t>
            </a:r>
            <a:r>
              <a:rPr lang="fr-FR" dirty="0" err="1"/>
              <a:t>dependent</a:t>
            </a:r>
            <a:r>
              <a:rPr lang="fr-FR" dirty="0"/>
              <a:t> structural </a:t>
            </a:r>
            <a:r>
              <a:rPr lang="fr-FR" dirty="0" err="1"/>
              <a:t>form</a:t>
            </a:r>
            <a:r>
              <a:rPr lang="fr-FR" dirty="0"/>
              <a:t> for the corrector model</a:t>
            </a:r>
          </a:p>
          <a:p>
            <a:pPr lvl="1"/>
            <a:r>
              <a:rPr lang="fr-FR" dirty="0" err="1"/>
              <a:t>Adding</a:t>
            </a:r>
            <a:r>
              <a:rPr lang="fr-FR" dirty="0"/>
              <a:t> noise (</a:t>
            </a:r>
            <a:r>
              <a:rPr lang="fr-FR" dirty="0" err="1"/>
              <a:t>both</a:t>
            </a:r>
            <a:r>
              <a:rPr lang="fr-FR" dirty="0"/>
              <a:t> a priori and a posteriori)</a:t>
            </a:r>
          </a:p>
          <a:p>
            <a:pPr lvl="1"/>
            <a:r>
              <a:rPr lang="fr-FR" dirty="0" err="1"/>
              <a:t>Consistency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chemical</a:t>
            </a:r>
            <a:r>
              <a:rPr lang="fr-FR" dirty="0"/>
              <a:t> </a:t>
            </a:r>
            <a:r>
              <a:rPr lang="fr-FR" dirty="0" err="1"/>
              <a:t>equations</a:t>
            </a:r>
            <a:r>
              <a:rPr lang="fr-FR" dirty="0"/>
              <a:t> (soft /hard)</a:t>
            </a:r>
          </a:p>
          <a:p>
            <a:pPr lvl="1"/>
            <a:r>
              <a:rPr lang="fr-FR" dirty="0" err="1"/>
              <a:t>Linearize</a:t>
            </a:r>
            <a:r>
              <a:rPr lang="fr-FR" dirty="0"/>
              <a:t> </a:t>
            </a:r>
            <a:r>
              <a:rPr lang="fr-FR" dirty="0" err="1"/>
              <a:t>surrogate</a:t>
            </a:r>
            <a:r>
              <a:rPr lang="fr-FR" dirty="0"/>
              <a:t> model to </a:t>
            </a:r>
            <a:r>
              <a:rPr lang="fr-FR" dirty="0" err="1"/>
              <a:t>study</a:t>
            </a:r>
            <a:r>
              <a:rPr lang="fr-FR" dirty="0"/>
              <a:t> </a:t>
            </a:r>
            <a:r>
              <a:rPr lang="fr-FR" dirty="0" err="1"/>
              <a:t>stability</a:t>
            </a:r>
            <a:r>
              <a:rPr lang="fr-FR" dirty="0"/>
              <a:t> (</a:t>
            </a:r>
            <a:r>
              <a:rPr lang="fr-FR" dirty="0" err="1"/>
              <a:t>eigenvalues</a:t>
            </a:r>
            <a:r>
              <a:rPr lang="fr-FR" dirty="0"/>
              <a:t>)</a:t>
            </a:r>
          </a:p>
          <a:p>
            <a:r>
              <a:rPr lang="fr-FR" dirty="0" err="1"/>
              <a:t>Generalization</a:t>
            </a:r>
            <a:endParaRPr lang="fr-FR" dirty="0"/>
          </a:p>
          <a:p>
            <a:pPr lvl="1"/>
            <a:r>
              <a:rPr lang="fr-FR" dirty="0"/>
              <a:t>Use </a:t>
            </a:r>
            <a:r>
              <a:rPr lang="fr-FR" dirty="0" err="1"/>
              <a:t>probablistic</a:t>
            </a:r>
            <a:r>
              <a:rPr lang="fr-FR" dirty="0"/>
              <a:t> classifier output (</a:t>
            </a:r>
            <a:r>
              <a:rPr lang="fr-FR" dirty="0" err="1"/>
              <a:t>instead</a:t>
            </a:r>
            <a:r>
              <a:rPr lang="fr-FR" dirty="0"/>
              <a:t> of hard classifier)</a:t>
            </a:r>
          </a:p>
          <a:p>
            <a:pPr lvl="1"/>
            <a:r>
              <a:rPr lang="fr-FR" dirty="0" err="1"/>
              <a:t>Samples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representative</a:t>
            </a:r>
            <a:r>
              <a:rPr lang="fr-FR" dirty="0"/>
              <a:t> of the time </a:t>
            </a:r>
            <a:r>
              <a:rPr lang="fr-FR" dirty="0" err="1"/>
              <a:t>evolution</a:t>
            </a:r>
            <a:endParaRPr lang="fr-FR" dirty="0"/>
          </a:p>
          <a:p>
            <a:pPr lvl="1"/>
            <a:r>
              <a:rPr lang="fr-FR" dirty="0"/>
              <a:t>PDE NO : use </a:t>
            </a:r>
            <a:r>
              <a:rPr lang="fr-FR" dirty="0" err="1"/>
              <a:t>smooth</a:t>
            </a:r>
            <a:r>
              <a:rPr lang="fr-FR" dirty="0"/>
              <a:t> </a:t>
            </a:r>
            <a:r>
              <a:rPr lang="fr-FR" dirty="0" err="1"/>
              <a:t>rhs</a:t>
            </a:r>
            <a:endParaRPr lang="fr-FR" dirty="0"/>
          </a:p>
          <a:p>
            <a:pPr lvl="1"/>
            <a:r>
              <a:rPr lang="fr-FR" dirty="0"/>
              <a:t>NO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autoencoder</a:t>
            </a:r>
            <a:r>
              <a:rPr lang="fr-FR" dirty="0"/>
              <a:t> </a:t>
            </a:r>
            <a:r>
              <a:rPr lang="fr-FR" dirty="0" err="1"/>
              <a:t>trained</a:t>
            </a:r>
            <a:r>
              <a:rPr lang="fr-FR" dirty="0"/>
              <a:t> on base </a:t>
            </a:r>
            <a:r>
              <a:rPr lang="fr-FR" dirty="0" err="1"/>
              <a:t>chemical</a:t>
            </a:r>
            <a:r>
              <a:rPr lang="fr-FR" dirty="0"/>
              <a:t> system + </a:t>
            </a:r>
            <a:r>
              <a:rPr lang="fr-FR" dirty="0" err="1"/>
              <a:t>retrain</a:t>
            </a:r>
            <a:r>
              <a:rPr lang="fr-FR" dirty="0"/>
              <a:t> to </a:t>
            </a:r>
            <a:r>
              <a:rPr lang="fr-FR" dirty="0" err="1"/>
              <a:t>add</a:t>
            </a:r>
            <a:r>
              <a:rPr lang="fr-FR" dirty="0"/>
              <a:t> new </a:t>
            </a:r>
            <a:r>
              <a:rPr lang="fr-FR" dirty="0" err="1"/>
              <a:t>species</a:t>
            </a:r>
            <a:r>
              <a:rPr lang="fr-FR" dirty="0"/>
              <a:t> on the </a:t>
            </a:r>
            <a:r>
              <a:rPr lang="fr-FR" dirty="0" err="1"/>
              <a:t>fly</a:t>
            </a:r>
            <a:endParaRPr lang="fr-FR" dirty="0"/>
          </a:p>
          <a:p>
            <a:r>
              <a:rPr lang="fr-FR" dirty="0"/>
              <a:t>Online Learning</a:t>
            </a:r>
          </a:p>
          <a:p>
            <a:pPr lvl="1"/>
            <a:r>
              <a:rPr lang="fr-FR" dirty="0"/>
              <a:t>Focus on </a:t>
            </a:r>
            <a:r>
              <a:rPr lang="fr-FR" dirty="0" err="1"/>
              <a:t>dynamic</a:t>
            </a:r>
            <a:r>
              <a:rPr lang="fr-FR" dirty="0"/>
              <a:t> local time </a:t>
            </a:r>
            <a:r>
              <a:rPr lang="fr-FR" dirty="0" err="1"/>
              <a:t>stepping</a:t>
            </a:r>
            <a:endParaRPr lang="fr-FR" dirty="0"/>
          </a:p>
          <a:p>
            <a:pPr lvl="1"/>
            <a:r>
              <a:rPr lang="fr-FR" dirty="0" err="1"/>
              <a:t>Bayesian</a:t>
            </a:r>
            <a:r>
              <a:rPr lang="fr-FR" dirty="0"/>
              <a:t> model to </a:t>
            </a:r>
            <a:r>
              <a:rPr lang="fr-FR" dirty="0" err="1"/>
              <a:t>decide</a:t>
            </a:r>
            <a:r>
              <a:rPr lang="fr-FR" dirty="0"/>
              <a:t> on the </a:t>
            </a:r>
            <a:r>
              <a:rPr lang="fr-FR" dirty="0" err="1"/>
              <a:t>fly</a:t>
            </a:r>
            <a:r>
              <a:rPr lang="fr-FR" dirty="0"/>
              <a:t> the use of </a:t>
            </a:r>
            <a:r>
              <a:rPr lang="fr-FR" dirty="0" err="1"/>
              <a:t>surrogate</a:t>
            </a:r>
            <a:r>
              <a:rPr lang="fr-FR" dirty="0"/>
              <a:t> model</a:t>
            </a:r>
          </a:p>
          <a:p>
            <a:pPr lvl="1"/>
            <a:r>
              <a:rPr lang="fr-FR" dirty="0"/>
              <a:t>Training a </a:t>
            </a:r>
            <a:r>
              <a:rPr lang="fr-FR" dirty="0" err="1"/>
              <a:t>very</a:t>
            </a:r>
            <a:r>
              <a:rPr lang="fr-FR" dirty="0"/>
              <a:t> simple </a:t>
            </a:r>
            <a:r>
              <a:rPr lang="fr-FR" dirty="0" err="1"/>
              <a:t>domain</a:t>
            </a:r>
            <a:r>
              <a:rPr lang="fr-FR" dirty="0"/>
              <a:t> for inactive </a:t>
            </a:r>
            <a:r>
              <a:rPr lang="fr-FR" dirty="0" err="1"/>
              <a:t>chemical</a:t>
            </a:r>
            <a:r>
              <a:rPr lang="fr-FR" dirty="0"/>
              <a:t> points and « </a:t>
            </a:r>
            <a:r>
              <a:rPr lang="fr-FR" dirty="0" err="1"/>
              <a:t>track</a:t>
            </a:r>
            <a:r>
              <a:rPr lang="fr-FR" dirty="0"/>
              <a:t> »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domain</a:t>
            </a:r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939065CB-A5A8-7D97-1FEE-6F06F920B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32" y="0"/>
            <a:ext cx="10863872" cy="514203"/>
          </a:xfrm>
        </p:spPr>
        <p:txBody>
          <a:bodyPr/>
          <a:lstStyle/>
          <a:p>
            <a:r>
              <a:rPr lang="fr-FR" dirty="0" err="1"/>
              <a:t>Recommendations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437198"/>
      </p:ext>
    </p:extLst>
  </p:cSld>
  <p:clrMapOvr>
    <a:masterClrMapping/>
  </p:clrMapOvr>
</p:sld>
</file>

<file path=ppt/theme/theme1.xml><?xml version="1.0" encoding="utf-8"?>
<a:theme xmlns:a="http://schemas.openxmlformats.org/drawingml/2006/main" name="Masques vierges IFP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19437</TotalTime>
  <Words>913</Words>
  <Application>Microsoft Office PowerPoint</Application>
  <PresentationFormat>Grand écran</PresentationFormat>
  <Paragraphs>284</Paragraphs>
  <Slides>29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Roboto Light</vt:lpstr>
      <vt:lpstr>Wingdings</vt:lpstr>
      <vt:lpstr>Masques vierges IFPEN</vt:lpstr>
      <vt:lpstr>Présentation PowerPoint</vt:lpstr>
      <vt:lpstr>Présentation PowerPoint</vt:lpstr>
      <vt:lpstr>Issue with traditional solvers</vt:lpstr>
      <vt:lpstr>Issue with traditional solvers</vt:lpstr>
      <vt:lpstr>Promise of chemistry surrogate modeling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Basic Challenges</vt:lpstr>
      <vt:lpstr>Présentation PowerPoint</vt:lpstr>
      <vt:lpstr>SAMPLING</vt:lpstr>
      <vt:lpstr>SAMPLING</vt:lpstr>
      <vt:lpstr>SAMPLING</vt:lpstr>
      <vt:lpstr>SAMPLING</vt:lpstr>
      <vt:lpstr>Intrusive Models</vt:lpstr>
      <vt:lpstr>Intrusive Models</vt:lpstr>
      <vt:lpstr>Intrusive Models</vt:lpstr>
      <vt:lpstr>Intrusive Models</vt:lpstr>
      <vt:lpstr>Adding physical constraints</vt:lpstr>
      <vt:lpstr>Adding physical constraints</vt:lpstr>
      <vt:lpstr>Adding physical constraints</vt:lpstr>
      <vt:lpstr>Adding physical constraints</vt:lpstr>
      <vt:lpstr>Adding physical constraints</vt:lpstr>
      <vt:lpstr>Présentation PowerPoint</vt:lpstr>
      <vt:lpstr>Challenges with hybrid ML / HPC solvers for reactive transport </vt:lpstr>
      <vt:lpstr>Recommendations</vt:lpstr>
    </vt:vector>
  </TitlesOfParts>
  <Company>IFP Energies Nouvelles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BURLOT-FERRE Nadine</dc:creator>
  <cp:lastModifiedBy>FANEY Thibault</cp:lastModifiedBy>
  <cp:revision>568</cp:revision>
  <cp:lastPrinted>2016-03-11T10:09:08Z</cp:lastPrinted>
  <dcterms:created xsi:type="dcterms:W3CDTF">2019-02-08T09:08:02Z</dcterms:created>
  <dcterms:modified xsi:type="dcterms:W3CDTF">2025-12-02T15:30:44Z</dcterms:modified>
</cp:coreProperties>
</file>